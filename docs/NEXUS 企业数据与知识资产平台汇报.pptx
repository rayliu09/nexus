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9" r:id="rId17"/>
    <p:sldId id="270" r:id="rId18"/>
    <p:sldId id="271" r:id="rId19"/>
    <p:sldId id="272" r:id="rId20"/>
    <p:sldId id="273" r:id="rId21"/>
    <p:sldId id="274"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1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16"/>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尊敬的各位领导、同事，大家下午好。今天我将向大家汇报NEXUS企业数据与知识资产平台的建设情况，特别是我们如何通过构建知识检索与智能问答体系，将企业内部沉睡的数据资产，转化为驱动业务增长的智能决策引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四个部分。首先，我会介绍项目的背景和我们面临的核心挑战。其次，将详细阐述我们的技术实现方案和核心设计理念。接着，会展示当前的建设进展和未来的规划。最后，对整个项目进行总结并展望未来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首先，让我们进入第一部分，了解一下我们为什么要启动这个项目，以及我们希望通过它解决什么核心问题。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面临的核心挑战，可以概括为“沉睡的数据资产”。具体来说，有三个方面：首先是严重的数据孤岛，不同格式的数据无法互通；其次是传统搜索无法满足复杂的业务查询需求；最后是数据质量参差不齐，影响了决策的准确性。这些问题共同导致了我们宝贵的知识资产无法发挥其应有的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这些挑战，我们设定了P0阶段的核心目标：构建一个统一、智能、可追溯的知识底座。这个底座将整合我们现有的9大类异构数据资产，实现统一的语义检索和跨资产的复杂问答能力，并且确保每一个答案都能追溯到原始文档。这将彻底改变我们利用知识资产的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接下来，我将详细介绍我们是如何通过技术手段来实现这一目标的。这部分将涵盖我们的端到端处理流程、核心设计理念以及关键技术点。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技术核心是一套端到端的自动化处理流程。它从数据接入开始，经过解析标准化、AI治理、知识加工，最终到达智能检索。这个流程确保了无论原始数据是什么格式，都能被高效、高质量地转化为可用的知识。特别值得一提的是，我们设计了并行处理管线，分别处理非结构化和结构化数据，保证了处理的效率和统一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知识加工环节，我们认为“加工质量决定检索的天花板”。因此，我们投入了大量精力设计了一套包含10道工序的精细化加工流水线。从恢复章节结构、提取关键指标，到清洗噪声、处理表格，每一步都旨在确保最终生成的知识单元是高质量、高可用性的。这为后续的精准检索打下了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确保加工质量，我们建立了一套量化追踪体系。我们不再凭感觉判断，而是通过7个维度的定量检查来评估每个知识单元的质量。从当前的基线数据来看，我们有32.4%的资产可以直接投入使用，45.9%需要优化，21.6%需要重建。这套体系让质量问题变得清晰可见，帮助我们精准定位并持续改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深知不同类型的数据资产需要不同的处理方式。因此，我们设计了差异化的加工策略。例如，对于政策报告，我们采用保留章节结构的语义切块；对于岗位数据，则进行逐行拆解以支持精准查询；对于教材，则结合知识大纲进行体系化处理。这种“量身定制”的方式，最大化地发挥了每种资产的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检索架构上，我们实现了从“关键词匹配”到“意图驱动”的革命性升级。系统不再是简单地匹配文字，而是首先理解用户的真实意图，然后智能地分派策略，并行调用多个工具获取信息，最后将结果整合成一个完整、可追溯的答案。这种架构能够覆盖五大核心业务场景，并且在无结果时能自动兜底，保证了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实现跨资产检索的关键，在于解决不同数据源中术语不一致的问题。我们设计了六层渐进匹配机制。从最基础的精确匹配，到规则归一、同义词、标准编码，再到核心的语义匹配，最后还有全文兜底。这套机制确保了即使在术语不完全相同的情况下，系统也能准确地关联信息。特别是我们的语义匹配技术，让系统能够真正理解词语的深层含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接下来，我将向大家汇报项目的当前进展，以及我们对未来的规划。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目前，我们已经成功建成了五大核心模块。包括保证知识底座质量的知识加工和质量管理模块；实现智能检索的检索架构和跨资产桥接模块；以及确保最终回答质量的回答质量模块。这些模块共同构成了我们NEXUS平台的坚实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的工作将分为两个阶段。在P0收尾阶段，我们将重点解决一些遗留的技术问题，如超大知识单元的拆分，并完成自动化测试集的建设。进入P1阶段，我们将探索更先进的混合检索技术，并基于量化数据对系统进行持续的迭代优化，不断提升检索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最后，对本次汇报进行总结，并展望NEXUS平台的未来价值。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来说，我们的核心交付是一套覆盖全链路的质量保障体系。这背后体现了我们三个关键的设计理念：重视加工质量、不依赖完美数据、以及确保系统的可观测和可回退。展望未来，NEXUS平台不仅解决了当下的问题，更为我们未来构建更强大的AI应用奠定了坚实的基础，它将成为驱动公司业务增长的强大引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我的汇报到此结束，感谢各位的聆听。现在是问答环节，欢迎大家提问。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3" Type="http://schemas.openxmlformats.org/officeDocument/2006/relationships/notesSlide" Target="../notesSlides/notesSlide2.xml"/><Relationship Id="rId22" Type="http://schemas.openxmlformats.org/officeDocument/2006/relationships/slideLayout" Target="../slideLayouts/slideLayout12.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1" Type="http://schemas.openxmlformats.org/officeDocument/2006/relationships/notesSlide" Target="../notesSlides/notesSlide5.xml"/><Relationship Id="rId20" Type="http://schemas.openxmlformats.org/officeDocument/2006/relationships/slideLayout" Target="../slideLayouts/slideLayout12.xml"/><Relationship Id="rId2" Type="http://schemas.openxmlformats.org/officeDocument/2006/relationships/image" Target="../media/image9.png"/><Relationship Id="rId19" Type="http://schemas.openxmlformats.org/officeDocument/2006/relationships/image" Target="../media/image26.svg"/><Relationship Id="rId18" Type="http://schemas.openxmlformats.org/officeDocument/2006/relationships/image" Target="../media/image25.png"/><Relationship Id="rId17" Type="http://schemas.openxmlformats.org/officeDocument/2006/relationships/image" Target="../media/image24.svg"/><Relationship Id="rId16" Type="http://schemas.openxmlformats.org/officeDocument/2006/relationships/image" Target="../media/image23.png"/><Relationship Id="rId15" Type="http://schemas.openxmlformats.org/officeDocument/2006/relationships/image" Target="../media/image22.svg"/><Relationship Id="rId14" Type="http://schemas.openxmlformats.org/officeDocument/2006/relationships/image" Target="../media/image21.png"/><Relationship Id="rId13" Type="http://schemas.openxmlformats.org/officeDocument/2006/relationships/image" Target="../media/image20.svg"/><Relationship Id="rId12" Type="http://schemas.openxmlformats.org/officeDocument/2006/relationships/image" Target="../media/image19.png"/><Relationship Id="rId11" Type="http://schemas.openxmlformats.org/officeDocument/2006/relationships/image" Target="../media/image18.svg"/><Relationship Id="rId10" Type="http://schemas.openxmlformats.org/officeDocument/2006/relationships/image" Target="../media/image17.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9" Type="http://schemas.openxmlformats.org/officeDocument/2006/relationships/image" Target="../media/image34.svg"/><Relationship Id="rId8" Type="http://schemas.openxmlformats.org/officeDocument/2006/relationships/image" Target="../media/image33.png"/><Relationship Id="rId7" Type="http://schemas.openxmlformats.org/officeDocument/2006/relationships/image" Target="../media/image32.svg"/><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3" Type="http://schemas.openxmlformats.org/officeDocument/2006/relationships/image" Target="../media/image28.svg"/><Relationship Id="rId2" Type="http://schemas.openxmlformats.org/officeDocument/2006/relationships/image" Target="../media/image27.png"/><Relationship Id="rId15" Type="http://schemas.openxmlformats.org/officeDocument/2006/relationships/notesSlide" Target="../notesSlides/notesSlide7.xml"/><Relationship Id="rId14" Type="http://schemas.openxmlformats.org/officeDocument/2006/relationships/slideLayout" Target="../slideLayouts/slideLayout12.xml"/><Relationship Id="rId13" Type="http://schemas.openxmlformats.org/officeDocument/2006/relationships/image" Target="../media/image36.svg"/><Relationship Id="rId12" Type="http://schemas.openxmlformats.org/officeDocument/2006/relationships/image" Target="../media/image35.png"/><Relationship Id="rId11" Type="http://schemas.openxmlformats.org/officeDocument/2006/relationships/image" Target="../media/image6.svg"/><Relationship Id="rId10" Type="http://schemas.openxmlformats.org/officeDocument/2006/relationships/image" Target="../media/image5.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44.svg"/><Relationship Id="rId8" Type="http://schemas.openxmlformats.org/officeDocument/2006/relationships/image" Target="../media/image43.png"/><Relationship Id="rId7" Type="http://schemas.openxmlformats.org/officeDocument/2006/relationships/image" Target="../media/image42.svg"/><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 Id="rId3" Type="http://schemas.openxmlformats.org/officeDocument/2006/relationships/image" Target="../media/image38.svg"/><Relationship Id="rId2" Type="http://schemas.openxmlformats.org/officeDocument/2006/relationships/image" Target="../media/image37.png"/><Relationship Id="rId17" Type="http://schemas.openxmlformats.org/officeDocument/2006/relationships/notesSlide" Target="../notesSlides/notesSlide9.xml"/><Relationship Id="rId16" Type="http://schemas.openxmlformats.org/officeDocument/2006/relationships/slideLayout" Target="../slideLayouts/slideLayout12.xml"/><Relationship Id="rId15" Type="http://schemas.openxmlformats.org/officeDocument/2006/relationships/image" Target="../media/image6.svg"/><Relationship Id="rId14" Type="http://schemas.openxmlformats.org/officeDocument/2006/relationships/image" Target="../media/image5.png"/><Relationship Id="rId13" Type="http://schemas.openxmlformats.org/officeDocument/2006/relationships/image" Target="../media/image48.svg"/><Relationship Id="rId12" Type="http://schemas.openxmlformats.org/officeDocument/2006/relationships/image" Target="../media/image47.png"/><Relationship Id="rId11" Type="http://schemas.openxmlformats.org/officeDocument/2006/relationships/image" Target="../media/image46.svg"/><Relationship Id="rId10" Type="http://schemas.openxmlformats.org/officeDocument/2006/relationships/image" Target="../media/image45.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image" Target="../media/image52.svg"/><Relationship Id="rId8" Type="http://schemas.openxmlformats.org/officeDocument/2006/relationships/image" Target="../media/image51.png"/><Relationship Id="rId7" Type="http://schemas.openxmlformats.org/officeDocument/2006/relationships/image" Target="../media/image26.svg"/><Relationship Id="rId6" Type="http://schemas.openxmlformats.org/officeDocument/2006/relationships/image" Target="../media/image25.png"/><Relationship Id="rId5" Type="http://schemas.openxmlformats.org/officeDocument/2006/relationships/image" Target="../media/image46.svg"/><Relationship Id="rId4" Type="http://schemas.openxmlformats.org/officeDocument/2006/relationships/image" Target="../media/image45.png"/><Relationship Id="rId3" Type="http://schemas.openxmlformats.org/officeDocument/2006/relationships/image" Target="../media/image50.svg"/><Relationship Id="rId2" Type="http://schemas.openxmlformats.org/officeDocument/2006/relationships/image" Target="../media/image49.png"/><Relationship Id="rId13" Type="http://schemas.openxmlformats.org/officeDocument/2006/relationships/notesSlide" Target="../notesSlides/notesSlide10.xml"/><Relationship Id="rId12" Type="http://schemas.openxmlformats.org/officeDocument/2006/relationships/slideLayout" Target="../slideLayouts/slideLayout12.xml"/><Relationship Id="rId11" Type="http://schemas.openxmlformats.org/officeDocument/2006/relationships/image" Target="../media/image4.svg"/><Relationship Id="rId10" Type="http://schemas.openxmlformats.org/officeDocument/2006/relationships/image" Target="../media/image3.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2.xml"/><Relationship Id="rId7" Type="http://schemas.openxmlformats.org/officeDocument/2006/relationships/image" Target="../media/image50.svg"/><Relationship Id="rId6" Type="http://schemas.openxmlformats.org/officeDocument/2006/relationships/image" Target="../media/image49.png"/><Relationship Id="rId5" Type="http://schemas.openxmlformats.org/officeDocument/2006/relationships/image" Target="../media/image54.svg"/><Relationship Id="rId4" Type="http://schemas.openxmlformats.org/officeDocument/2006/relationships/image" Target="../media/image53.png"/><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58.svg"/><Relationship Id="rId4" Type="http://schemas.openxmlformats.org/officeDocument/2006/relationships/image" Target="../media/image57.png"/><Relationship Id="rId3" Type="http://schemas.openxmlformats.org/officeDocument/2006/relationships/image" Target="../media/image56.svg"/><Relationship Id="rId2" Type="http://schemas.openxmlformats.org/officeDocument/2006/relationships/image" Target="../media/image55.png"/><Relationship Id="rId13" Type="http://schemas.openxmlformats.org/officeDocument/2006/relationships/notesSlide" Target="../notesSlides/notesSlide14.xml"/><Relationship Id="rId12" Type="http://schemas.openxmlformats.org/officeDocument/2006/relationships/slideLayout" Target="../slideLayouts/slideLayout12.xml"/><Relationship Id="rId11" Type="http://schemas.openxmlformats.org/officeDocument/2006/relationships/image" Target="../media/image60.svg"/><Relationship Id="rId10" Type="http://schemas.openxmlformats.org/officeDocument/2006/relationships/image" Target="../media/image59.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12.xml"/><Relationship Id="rId7" Type="http://schemas.openxmlformats.org/officeDocument/2006/relationships/image" Target="../media/image66.svg"/><Relationship Id="rId6" Type="http://schemas.openxmlformats.org/officeDocument/2006/relationships/image" Target="../media/image65.png"/><Relationship Id="rId5" Type="http://schemas.openxmlformats.org/officeDocument/2006/relationships/image" Target="../media/image64.svg"/><Relationship Id="rId4" Type="http://schemas.openxmlformats.org/officeDocument/2006/relationships/image" Target="../media/image63.png"/><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68.png"/><Relationship Id="rId1" Type="http://schemas.openxmlformats.org/officeDocument/2006/relationships/image" Target="../media/image6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2349500"/>
            <a:ext cx="11430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NEXUS 企业数据与知识资产平台</a:t>
            </a:r>
            <a:endParaRPr lang="en-US" sz="1100"/>
          </a:p>
        </p:txBody>
      </p:sp>
      <p:sp>
        <p:nvSpPr>
          <p:cNvPr id="4" name="AutoShape 4"/>
          <p:cNvSpPr/>
          <p:nvPr/>
        </p:nvSpPr>
        <p:spPr>
          <a:xfrm>
            <a:off x="381000" y="4191000"/>
            <a:ext cx="1143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spc="100">
                <a:solidFill>
                  <a:srgbClr val="FFFFFF">
                    <a:alpha val="8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知识检索与智能问答体系建设汇报</a:t>
            </a:r>
            <a:endParaRPr lang="en-US" sz="1100"/>
          </a:p>
        </p:txBody>
      </p:sp>
      <p:sp>
        <p:nvSpPr>
          <p:cNvPr id="5" name="AutoShape 5"/>
          <p:cNvSpPr/>
          <p:nvPr/>
        </p:nvSpPr>
        <p:spPr>
          <a:xfrm>
            <a:off x="381000" y="5778500"/>
            <a:ext cx="1143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汇报部门：数据智能部 | 汇报日期：2026年08月09日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目录 CONTENTS</a:t>
            </a:r>
            <a:endParaRPr lang="en-US" sz="1100"/>
          </a:p>
        </p:txBody>
      </p:sp>
      <p:sp>
        <p:nvSpPr>
          <p:cNvPr id="4" name="AutoShape 4"/>
          <p:cNvSpPr/>
          <p:nvPr>
            <p:custDataLst>
              <p:tags r:id="rId2"/>
            </p:custDataLst>
          </p:nvPr>
        </p:nvSpPr>
        <p:spPr>
          <a:xfrm>
            <a:off x="762000" y="1905000"/>
            <a:ext cx="5207000" cy="1841500"/>
          </a:xfrm>
          <a:prstGeom prst="roundRect">
            <a:avLst>
              <a:gd name="adj" fmla="val 0"/>
            </a:avLst>
          </a:prstGeom>
          <a:solidFill>
            <a:srgbClr val="FFFFFF">
              <a:alpha val="55000"/>
            </a:srgbClr>
          </a:solidFill>
          <a:ln w="12700" cap="flat" cmpd="sng">
            <a:solidFill>
              <a:srgbClr val="FFFFFF">
                <a:alpha val="7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2095500"/>
            <a:ext cx="88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01</a:t>
            </a:r>
            <a:endParaRPr lang="en-US" sz="1100"/>
          </a:p>
        </p:txBody>
      </p:sp>
      <p:sp>
        <p:nvSpPr>
          <p:cNvPr id="6" name="AutoShape 6"/>
          <p:cNvSpPr/>
          <p:nvPr>
            <p:custDataLst>
              <p:tags r:id="rId4"/>
            </p:custDataLst>
          </p:nvPr>
        </p:nvSpPr>
        <p:spPr>
          <a:xfrm>
            <a:off x="1968500" y="21590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项目背景与核心目标</a:t>
            </a:r>
            <a:endParaRPr lang="en-US" sz="1100"/>
          </a:p>
        </p:txBody>
      </p:sp>
      <p:cxnSp>
        <p:nvCxnSpPr>
          <p:cNvPr id="7" name="Connector 7"/>
          <p:cNvCxnSpPr/>
          <p:nvPr>
            <p:custDataLst>
              <p:tags r:id="rId5"/>
            </p:custDataLst>
          </p:nvPr>
        </p:nvCxnSpPr>
        <p:spPr>
          <a:xfrm rot="-9291">
            <a:off x="1016009" y="2813050"/>
            <a:ext cx="4699000" cy="12700"/>
          </a:xfrm>
          <a:prstGeom prst="straightConnector1">
            <a:avLst/>
          </a:prstGeom>
          <a:solidFill>
            <a:srgbClr val="DEE0E3">
              <a:alpha val="100000"/>
            </a:srgbClr>
          </a:solidFill>
          <a:ln w="12700" cap="flat" cmpd="sng">
            <a:solidFill>
              <a:srgbClr val="22C55E">
                <a:alpha val="25000"/>
              </a:srgbClr>
            </a:solidFill>
            <a:prstDash val="solid"/>
            <a:round/>
            <a:headEnd type="none" w="med" len="med"/>
            <a:tailEnd type="none" w="med" len="med"/>
          </a:ln>
        </p:spPr>
      </p:cxnSp>
      <p:sp>
        <p:nvSpPr>
          <p:cNvPr id="8" name="AutoShape 8"/>
          <p:cNvSpPr/>
          <p:nvPr>
            <p:custDataLst>
              <p:tags r:id="rId6"/>
            </p:custDataLst>
          </p:nvPr>
        </p:nvSpPr>
        <p:spPr>
          <a:xfrm>
            <a:off x="1016000" y="29464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深入剖析当前业务面临的数据孤岛痛点，明确从分散式管理到智能辅助决策的转型驱动力，确立项目的核心价值导向与建设目标。</a:t>
            </a:r>
            <a:endParaRPr lang="en-US" sz="1100"/>
          </a:p>
        </p:txBody>
      </p:sp>
      <p:sp>
        <p:nvSpPr>
          <p:cNvPr id="9" name="AutoShape 9"/>
          <p:cNvSpPr/>
          <p:nvPr>
            <p:custDataLst>
              <p:tags r:id="rId7"/>
            </p:custDataLst>
          </p:nvPr>
        </p:nvSpPr>
        <p:spPr>
          <a:xfrm>
            <a:off x="6223000" y="1905000"/>
            <a:ext cx="5207000" cy="1841500"/>
          </a:xfrm>
          <a:prstGeom prst="roundRect">
            <a:avLst>
              <a:gd name="adj" fmla="val 0"/>
            </a:avLst>
          </a:prstGeom>
          <a:solidFill>
            <a:srgbClr val="FFFFFF">
              <a:alpha val="55000"/>
            </a:srgbClr>
          </a:solidFill>
          <a:ln w="12700" cap="flat" cmpd="sng">
            <a:solidFill>
              <a:srgbClr val="FFFFFF">
                <a:alpha val="70000"/>
              </a:srgbClr>
            </a:solid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6477000" y="2095500"/>
            <a:ext cx="88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02</a:t>
            </a:r>
            <a:endParaRPr lang="en-US" sz="1100"/>
          </a:p>
        </p:txBody>
      </p:sp>
      <p:sp>
        <p:nvSpPr>
          <p:cNvPr id="11" name="AutoShape 11"/>
          <p:cNvSpPr/>
          <p:nvPr>
            <p:custDataLst>
              <p:tags r:id="rId9"/>
            </p:custDataLst>
          </p:nvPr>
        </p:nvSpPr>
        <p:spPr>
          <a:xfrm>
            <a:off x="7429500" y="21590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技术实现与核心设计</a:t>
            </a:r>
            <a:endParaRPr lang="en-US" sz="1100"/>
          </a:p>
        </p:txBody>
      </p:sp>
      <p:cxnSp>
        <p:nvCxnSpPr>
          <p:cNvPr id="12" name="Connector 12"/>
          <p:cNvCxnSpPr/>
          <p:nvPr>
            <p:custDataLst>
              <p:tags r:id="rId10"/>
            </p:custDataLst>
          </p:nvPr>
        </p:nvCxnSpPr>
        <p:spPr>
          <a:xfrm rot="-9291">
            <a:off x="6477009" y="2813050"/>
            <a:ext cx="4699000" cy="12700"/>
          </a:xfrm>
          <a:prstGeom prst="straightConnector1">
            <a:avLst/>
          </a:prstGeom>
          <a:solidFill>
            <a:srgbClr val="DEE0E3">
              <a:alpha val="100000"/>
            </a:srgbClr>
          </a:solidFill>
          <a:ln w="12700" cap="flat" cmpd="sng">
            <a:solidFill>
              <a:srgbClr val="22C55E">
                <a:alpha val="25000"/>
              </a:srgbClr>
            </a:solidFill>
            <a:prstDash val="solid"/>
            <a:round/>
            <a:headEnd type="none" w="med" len="med"/>
            <a:tailEnd type="none" w="med" len="med"/>
          </a:ln>
        </p:spPr>
      </p:cxnSp>
      <p:sp>
        <p:nvSpPr>
          <p:cNvPr id="13" name="AutoShape 13"/>
          <p:cNvSpPr/>
          <p:nvPr>
            <p:custDataLst>
              <p:tags r:id="rId11"/>
            </p:custDataLst>
          </p:nvPr>
        </p:nvSpPr>
        <p:spPr>
          <a:xfrm>
            <a:off x="6477000" y="29464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解析系统的底层架构与关键技术栈，阐述如何构建标准化、可扩展的知识图谱底座，实现数据的智能关联与全生命周期可追溯管理。</a:t>
            </a:r>
            <a:endParaRPr lang="en-US" sz="1100"/>
          </a:p>
        </p:txBody>
      </p:sp>
      <p:sp>
        <p:nvSpPr>
          <p:cNvPr id="14" name="AutoShape 14"/>
          <p:cNvSpPr/>
          <p:nvPr>
            <p:custDataLst>
              <p:tags r:id="rId12"/>
            </p:custDataLst>
          </p:nvPr>
        </p:nvSpPr>
        <p:spPr>
          <a:xfrm>
            <a:off x="762000" y="4127500"/>
            <a:ext cx="5207000" cy="1841500"/>
          </a:xfrm>
          <a:prstGeom prst="roundRect">
            <a:avLst>
              <a:gd name="adj" fmla="val 0"/>
            </a:avLst>
          </a:prstGeom>
          <a:solidFill>
            <a:srgbClr val="FFFFFF">
              <a:alpha val="55000"/>
            </a:srgbClr>
          </a:solidFill>
          <a:ln w="12700" cap="flat" cmpd="sng">
            <a:solidFill>
              <a:srgbClr val="FFFFFF">
                <a:alpha val="70000"/>
              </a:srgbClr>
            </a:solidFill>
            <a:prstDash val="solid"/>
            <a:round/>
          </a:ln>
        </p:spPr>
        <p:txBody>
          <a:bodyPr vert="horz" wrap="square" lIns="63500" tIns="63500" rIns="63500" bIns="63500" rtlCol="0" anchor="ctr"/>
          <a:lstStyle/>
          <a:p>
            <a:pPr algn="ctr">
              <a:defRPr/>
            </a:pPr>
          </a:p>
        </p:txBody>
      </p:sp>
      <p:sp>
        <p:nvSpPr>
          <p:cNvPr id="15" name="AutoShape 15"/>
          <p:cNvSpPr/>
          <p:nvPr>
            <p:custDataLst>
              <p:tags r:id="rId13"/>
            </p:custDataLst>
          </p:nvPr>
        </p:nvSpPr>
        <p:spPr>
          <a:xfrm>
            <a:off x="1016000" y="4318000"/>
            <a:ext cx="88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03</a:t>
            </a:r>
            <a:endParaRPr lang="en-US" sz="1100"/>
          </a:p>
        </p:txBody>
      </p:sp>
      <p:sp>
        <p:nvSpPr>
          <p:cNvPr id="16" name="AutoShape 16"/>
          <p:cNvSpPr/>
          <p:nvPr>
            <p:custDataLst>
              <p:tags r:id="rId14"/>
            </p:custDataLst>
          </p:nvPr>
        </p:nvSpPr>
        <p:spPr>
          <a:xfrm>
            <a:off x="1968500" y="4381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建设进展与未来规划</a:t>
            </a:r>
            <a:endParaRPr lang="en-US" sz="1100"/>
          </a:p>
        </p:txBody>
      </p:sp>
      <p:cxnSp>
        <p:nvCxnSpPr>
          <p:cNvPr id="17" name="Connector 17"/>
          <p:cNvCxnSpPr/>
          <p:nvPr>
            <p:custDataLst>
              <p:tags r:id="rId15"/>
            </p:custDataLst>
          </p:nvPr>
        </p:nvCxnSpPr>
        <p:spPr>
          <a:xfrm rot="-9291">
            <a:off x="1016009" y="5035550"/>
            <a:ext cx="4699000" cy="12700"/>
          </a:xfrm>
          <a:prstGeom prst="straightConnector1">
            <a:avLst/>
          </a:prstGeom>
          <a:solidFill>
            <a:srgbClr val="DEE0E3">
              <a:alpha val="100000"/>
            </a:srgbClr>
          </a:solidFill>
          <a:ln w="12700" cap="flat" cmpd="sng">
            <a:solidFill>
              <a:srgbClr val="22C55E">
                <a:alpha val="25000"/>
              </a:srgbClr>
            </a:solidFill>
            <a:prstDash val="solid"/>
            <a:round/>
            <a:headEnd type="none" w="med" len="med"/>
            <a:tailEnd type="none" w="med" len="med"/>
          </a:ln>
        </p:spPr>
      </p:cxnSp>
      <p:sp>
        <p:nvSpPr>
          <p:cNvPr id="18" name="AutoShape 18"/>
          <p:cNvSpPr/>
          <p:nvPr>
            <p:custDataLst>
              <p:tags r:id="rId16"/>
            </p:custDataLst>
          </p:nvPr>
        </p:nvSpPr>
        <p:spPr>
          <a:xfrm>
            <a:off x="1016000" y="51689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回顾已上线的核心功能模块与阶段性里程碑成果，结合业务需求，清晰规划下一阶段的迭代重点、功能扩展方向及落地实施路径。</a:t>
            </a:r>
            <a:endParaRPr lang="en-US" sz="1100"/>
          </a:p>
        </p:txBody>
      </p:sp>
      <p:sp>
        <p:nvSpPr>
          <p:cNvPr id="19" name="AutoShape 19"/>
          <p:cNvSpPr/>
          <p:nvPr>
            <p:custDataLst>
              <p:tags r:id="rId17"/>
            </p:custDataLst>
          </p:nvPr>
        </p:nvSpPr>
        <p:spPr>
          <a:xfrm>
            <a:off x="6223000" y="4127500"/>
            <a:ext cx="5207000" cy="1841500"/>
          </a:xfrm>
          <a:prstGeom prst="roundRect">
            <a:avLst>
              <a:gd name="adj" fmla="val 0"/>
            </a:avLst>
          </a:prstGeom>
          <a:solidFill>
            <a:srgbClr val="FFFFFF">
              <a:alpha val="55000"/>
            </a:srgbClr>
          </a:solidFill>
          <a:ln w="12700" cap="flat" cmpd="sng">
            <a:solidFill>
              <a:srgbClr val="FFFFFF">
                <a:alpha val="70000"/>
              </a:srgbClr>
            </a:solidFill>
            <a:prstDash val="solid"/>
            <a:round/>
          </a:ln>
        </p:spPr>
        <p:txBody>
          <a:bodyPr vert="horz" wrap="square" lIns="63500" tIns="63500" rIns="63500" bIns="63500" rtlCol="0" anchor="ctr"/>
          <a:lstStyle/>
          <a:p>
            <a:pPr algn="ctr">
              <a:defRPr/>
            </a:pPr>
          </a:p>
        </p:txBody>
      </p:sp>
      <p:sp>
        <p:nvSpPr>
          <p:cNvPr id="20" name="AutoShape 20"/>
          <p:cNvSpPr/>
          <p:nvPr>
            <p:custDataLst>
              <p:tags r:id="rId18"/>
            </p:custDataLst>
          </p:nvPr>
        </p:nvSpPr>
        <p:spPr>
          <a:xfrm>
            <a:off x="6477000" y="4318000"/>
            <a:ext cx="88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04</a:t>
            </a:r>
            <a:endParaRPr lang="en-US" sz="1100"/>
          </a:p>
        </p:txBody>
      </p:sp>
      <p:sp>
        <p:nvSpPr>
          <p:cNvPr id="21" name="AutoShape 21"/>
          <p:cNvSpPr/>
          <p:nvPr>
            <p:custDataLst>
              <p:tags r:id="rId19"/>
            </p:custDataLst>
          </p:nvPr>
        </p:nvSpPr>
        <p:spPr>
          <a:xfrm>
            <a:off x="7429500" y="4381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总结与展望</a:t>
            </a:r>
            <a:endParaRPr lang="en-US" sz="1100"/>
          </a:p>
        </p:txBody>
      </p:sp>
      <p:cxnSp>
        <p:nvCxnSpPr>
          <p:cNvPr id="22" name="Connector 22"/>
          <p:cNvCxnSpPr/>
          <p:nvPr>
            <p:custDataLst>
              <p:tags r:id="rId20"/>
            </p:custDataLst>
          </p:nvPr>
        </p:nvCxnSpPr>
        <p:spPr>
          <a:xfrm rot="-9291">
            <a:off x="6477009" y="5035550"/>
            <a:ext cx="4699000" cy="12700"/>
          </a:xfrm>
          <a:prstGeom prst="straightConnector1">
            <a:avLst/>
          </a:prstGeom>
          <a:solidFill>
            <a:srgbClr val="DEE0E3">
              <a:alpha val="100000"/>
            </a:srgbClr>
          </a:solidFill>
          <a:ln w="12700" cap="flat" cmpd="sng">
            <a:solidFill>
              <a:srgbClr val="22C55E">
                <a:alpha val="25000"/>
              </a:srgbClr>
            </a:solidFill>
            <a:prstDash val="solid"/>
            <a:round/>
            <a:headEnd type="none" w="med" len="med"/>
            <a:tailEnd type="none" w="med" len="med"/>
          </a:ln>
        </p:spPr>
      </p:cxnSp>
      <p:sp>
        <p:nvSpPr>
          <p:cNvPr id="23" name="AutoShape 23"/>
          <p:cNvSpPr/>
          <p:nvPr>
            <p:custDataLst>
              <p:tags r:id="rId21"/>
            </p:custDataLst>
          </p:nvPr>
        </p:nvSpPr>
        <p:spPr>
          <a:xfrm>
            <a:off x="6477000" y="51689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总结项目带来的降本增效、决策提优等核心业务价值，展望智能化升级对组织能力建设、数字化转型的长远赋能与深远影响。</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293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4318000"/>
            <a:ext cx="4064000" cy="4064000"/>
          </a:xfrm>
          <a:prstGeom prst="ellipse">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9652000" y="-1270000"/>
            <a:ext cx="3556000" cy="3556000"/>
          </a:xfrm>
          <a:prstGeom prst="ellipse">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286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PART 01</a:t>
            </a:r>
            <a:endParaRPr lang="en-US" sz="1100"/>
          </a:p>
        </p:txBody>
      </p:sp>
      <p:sp>
        <p:nvSpPr>
          <p:cNvPr id="5" name="AutoShape 5"/>
          <p:cNvSpPr/>
          <p:nvPr/>
        </p:nvSpPr>
        <p:spPr>
          <a:xfrm>
            <a:off x="0" y="3175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项目背景与核心目标</a:t>
            </a:r>
            <a:endParaRPr lang="en-US" sz="1100"/>
          </a:p>
        </p:txBody>
      </p:sp>
      <p:sp>
        <p:nvSpPr>
          <p:cNvPr id="6" name="AutoShape 6"/>
          <p:cNvSpPr/>
          <p:nvPr/>
        </p:nvSpPr>
        <p:spPr>
          <a:xfrm>
            <a:off x="5588000" y="4572000"/>
            <a:ext cx="1016000" cy="508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0" y="508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从数据孤岛到智能决策的驱动力</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我们面临的核心挑战：沉睡的数据资产</a:t>
            </a:r>
            <a:endParaRPr lang="en-US" sz="1100"/>
          </a:p>
        </p:txBody>
      </p:sp>
      <p:sp>
        <p:nvSpPr>
          <p:cNvPr id="4" name="AutoShape 4"/>
          <p:cNvSpPr/>
          <p:nvPr/>
        </p:nvSpPr>
        <p:spPr>
          <a:xfrm>
            <a:off x="762000" y="2032000"/>
            <a:ext cx="3378200" cy="2984500"/>
          </a:xfrm>
          <a:prstGeom prst="roundRect">
            <a:avLst>
              <a:gd name="adj" fmla="val 0"/>
            </a:avLst>
          </a:prstGeom>
          <a:solidFill>
            <a:srgbClr val="FFFFFF">
              <a:alpha val="5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406400" cy="406400"/>
          </a:xfrm>
          <a:prstGeom prst="rect">
            <a:avLst/>
          </a:prstGeom>
        </p:spPr>
      </p:pic>
      <p:sp>
        <p:nvSpPr>
          <p:cNvPr id="6" name="AutoShape 6"/>
          <p:cNvSpPr/>
          <p:nvPr/>
        </p:nvSpPr>
        <p:spPr>
          <a:xfrm>
            <a:off x="1016000" y="2921000"/>
            <a:ext cx="2870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01 数据孤岛现象严重</a:t>
            </a:r>
            <a:endParaRPr lang="en-US" sz="1100"/>
          </a:p>
        </p:txBody>
      </p:sp>
      <p:sp>
        <p:nvSpPr>
          <p:cNvPr id="7" name="AutoShape 7"/>
          <p:cNvSpPr/>
          <p:nvPr/>
        </p:nvSpPr>
        <p:spPr>
          <a:xfrm>
            <a:off x="1016000" y="34925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各类数据分散在PDF、表格、数据库等不同载体中，彼此孤立形成信息壁垒。不同系统间无法互通，导致数据无法被统一检索、关联与整合，形成了看得见却用不了的“数据烟囱”。</a:t>
            </a:r>
            <a:endParaRPr lang="en-US" sz="1100"/>
          </a:p>
        </p:txBody>
      </p:sp>
      <p:sp>
        <p:nvSpPr>
          <p:cNvPr id="8" name="AutoShape 8"/>
          <p:cNvSpPr/>
          <p:nvPr/>
        </p:nvSpPr>
        <p:spPr>
          <a:xfrm>
            <a:off x="4394200" y="2032000"/>
            <a:ext cx="3378200" cy="2984500"/>
          </a:xfrm>
          <a:prstGeom prst="roundRect">
            <a:avLst>
              <a:gd name="adj" fmla="val 0"/>
            </a:avLst>
          </a:prstGeom>
          <a:solidFill>
            <a:srgbClr val="FFFFFF">
              <a:alpha val="5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349500"/>
            <a:ext cx="406400" cy="406400"/>
          </a:xfrm>
          <a:prstGeom prst="rect">
            <a:avLst/>
          </a:prstGeom>
        </p:spPr>
      </p:pic>
      <p:sp>
        <p:nvSpPr>
          <p:cNvPr id="10" name="AutoShape 10"/>
          <p:cNvSpPr/>
          <p:nvPr/>
        </p:nvSpPr>
        <p:spPr>
          <a:xfrm>
            <a:off x="4648200" y="2921000"/>
            <a:ext cx="2870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02 难以响应复杂业务查询</a:t>
            </a:r>
            <a:endParaRPr lang="en-US" sz="1100"/>
          </a:p>
        </p:txBody>
      </p:sp>
      <p:sp>
        <p:nvSpPr>
          <p:cNvPr id="11" name="AutoShape 11"/>
          <p:cNvSpPr/>
          <p:nvPr/>
        </p:nvSpPr>
        <p:spPr>
          <a:xfrm>
            <a:off x="4648200" y="34925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业务问题往往跨领域、复合型强，传统的关键词匹配搜索只能返回碎片化信息。系统无法理解用户的真实意图，更无法进行深度关联分析，导致难以支撑高质量的决策需求。</a:t>
            </a:r>
            <a:endParaRPr lang="en-US" sz="1100"/>
          </a:p>
        </p:txBody>
      </p:sp>
      <p:sp>
        <p:nvSpPr>
          <p:cNvPr id="12" name="AutoShape 12"/>
          <p:cNvSpPr/>
          <p:nvPr/>
        </p:nvSpPr>
        <p:spPr>
          <a:xfrm>
            <a:off x="8026400" y="2032000"/>
            <a:ext cx="3378200" cy="2984500"/>
          </a:xfrm>
          <a:prstGeom prst="roundRect">
            <a:avLst>
              <a:gd name="adj" fmla="val 0"/>
            </a:avLst>
          </a:prstGeom>
          <a:solidFill>
            <a:srgbClr val="FFFFFF">
              <a:alpha val="5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349500"/>
            <a:ext cx="406400" cy="406400"/>
          </a:xfrm>
          <a:prstGeom prst="rect">
            <a:avLst/>
          </a:prstGeom>
        </p:spPr>
      </p:pic>
      <p:sp>
        <p:nvSpPr>
          <p:cNvPr id="14" name="AutoShape 14"/>
          <p:cNvSpPr/>
          <p:nvPr/>
        </p:nvSpPr>
        <p:spPr>
          <a:xfrm>
            <a:off x="8280400" y="2921000"/>
            <a:ext cx="2870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03 数据质量缺乏统一治理</a:t>
            </a:r>
            <a:endParaRPr lang="en-US" sz="1100"/>
          </a:p>
        </p:txBody>
      </p:sp>
      <p:sp>
        <p:nvSpPr>
          <p:cNvPr id="15" name="AutoShape 15"/>
          <p:cNvSpPr/>
          <p:nvPr/>
        </p:nvSpPr>
        <p:spPr>
          <a:xfrm>
            <a:off x="8280400" y="34925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数据接入后缺乏标准化的清洗、校验与更新机制，导致信息重复、错误或失效。业务人员无法判断数据的可信度与时效性，这不仅影响了分析结果的准确性，更直接导致决策偏差。</a:t>
            </a:r>
            <a:endParaRPr lang="en-US" sz="1100"/>
          </a:p>
        </p:txBody>
      </p:sp>
      <p:sp>
        <p:nvSpPr>
          <p:cNvPr id="16" name="AutoShape 16"/>
          <p:cNvSpPr/>
          <p:nvPr/>
        </p:nvSpPr>
        <p:spPr>
          <a:xfrm>
            <a:off x="762000" y="5334000"/>
            <a:ext cx="10668000" cy="1079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4864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核心影响：</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这些问题导致企业宝贵的知识资产长期处于“沉睡”状态，无法转化为生产力。不仅造成了资源浪费，更使得决策效率低下，难以快速响应市场变化，成为制约数字化转型深入推进的关键瓶颈。</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核心目标：构建统一、智能、可追溯的知识底座</a:t>
            </a:r>
            <a:endParaRPr lang="en-US" sz="1100"/>
          </a:p>
        </p:txBody>
      </p:sp>
      <p:sp>
        <p:nvSpPr>
          <p:cNvPr id="4" name="AutoShape 4"/>
          <p:cNvSpPr/>
          <p:nvPr/>
        </p:nvSpPr>
        <p:spPr>
          <a:xfrm>
            <a:off x="762000" y="1905000"/>
            <a:ext cx="10668000" cy="1270000"/>
          </a:xfrm>
          <a:prstGeom prst="roundRect">
            <a:avLst>
              <a:gd name="adj" fmla="val 0"/>
            </a:avLst>
          </a:prstGeom>
          <a:solidFill>
            <a:srgbClr val="E8F5E9">
              <a:alpha val="7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270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79500" y="2032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将9类异构数据资产，建成一个支持统一语义检索、跨资产复杂问答、且答案可追溯到原文的知识底座，彻底打破数据孤岛，激活沉睡的知识价值。</a:t>
            </a:r>
            <a:endParaRPr lang="en-US" sz="1100"/>
          </a:p>
        </p:txBody>
      </p:sp>
      <p:sp>
        <p:nvSpPr>
          <p:cNvPr id="7" name="AutoShape 7"/>
          <p:cNvSpPr/>
          <p:nvPr/>
        </p:nvSpPr>
        <p:spPr>
          <a:xfrm>
            <a:off x="762000" y="3492500"/>
            <a:ext cx="3378200" cy="7874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733800"/>
            <a:ext cx="304800" cy="304800"/>
          </a:xfrm>
          <a:prstGeom prst="rect">
            <a:avLst/>
          </a:prstGeom>
        </p:spPr>
      </p:pic>
      <p:sp>
        <p:nvSpPr>
          <p:cNvPr id="9" name="AutoShape 9"/>
          <p:cNvSpPr/>
          <p:nvPr/>
        </p:nvSpPr>
        <p:spPr>
          <a:xfrm>
            <a:off x="1397000" y="3594100"/>
            <a:ext cx="273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01 产业政策文件</a:t>
            </a:r>
            <a:endParaRPr lang="en-US" sz="1100"/>
          </a:p>
          <a:p>
            <a:pPr marL="0" indent="0" algn="l">
              <a:lnSpc>
                <a:spcPct val="125000"/>
              </a:lnSpc>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宏观导向、扶持政策与行业规范</a:t>
            </a:r>
            <a:endPar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762000" y="4381500"/>
            <a:ext cx="3378200" cy="7874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622800"/>
            <a:ext cx="304800" cy="304800"/>
          </a:xfrm>
          <a:prstGeom prst="rect">
            <a:avLst/>
          </a:prstGeom>
        </p:spPr>
      </p:pic>
      <p:sp>
        <p:nvSpPr>
          <p:cNvPr id="12" name="AutoShape 12"/>
          <p:cNvSpPr/>
          <p:nvPr/>
        </p:nvSpPr>
        <p:spPr>
          <a:xfrm>
            <a:off x="1397000" y="4483100"/>
            <a:ext cx="273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04 岗位需求数据</a:t>
            </a:r>
            <a:endParaRPr lang="en-US" sz="1100"/>
          </a:p>
          <a:p>
            <a:pPr marL="0" indent="0" algn="l">
              <a:lnSpc>
                <a:spcPct val="125000"/>
              </a:lnSpc>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企业招聘画像与人才市场供需</a:t>
            </a:r>
            <a:endPar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3" name="AutoShape 13"/>
          <p:cNvSpPr/>
          <p:nvPr/>
        </p:nvSpPr>
        <p:spPr>
          <a:xfrm>
            <a:off x="762000" y="5270500"/>
            <a:ext cx="3378200" cy="7874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511800"/>
            <a:ext cx="304800" cy="304800"/>
          </a:xfrm>
          <a:prstGeom prst="rect">
            <a:avLst/>
          </a:prstGeom>
        </p:spPr>
      </p:pic>
      <p:sp>
        <p:nvSpPr>
          <p:cNvPr id="15" name="AutoShape 15"/>
          <p:cNvSpPr/>
          <p:nvPr/>
        </p:nvSpPr>
        <p:spPr>
          <a:xfrm>
            <a:off x="1397000" y="5372100"/>
            <a:ext cx="273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07 专业资源简介</a:t>
            </a:r>
            <a:endParaRPr lang="en-US" sz="1100"/>
          </a:p>
          <a:p>
            <a:pPr marL="0" indent="0" algn="l">
              <a:lnSpc>
                <a:spcPct val="125000"/>
              </a:lnSpc>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院校专业特色、优势与培养亮点</a:t>
            </a:r>
            <a:endPar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6" name="AutoShape 16"/>
          <p:cNvSpPr/>
          <p:nvPr/>
        </p:nvSpPr>
        <p:spPr>
          <a:xfrm>
            <a:off x="4394200" y="3492500"/>
            <a:ext cx="3378200" cy="7874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84700" y="3733800"/>
            <a:ext cx="304800" cy="304800"/>
          </a:xfrm>
          <a:prstGeom prst="rect">
            <a:avLst/>
          </a:prstGeom>
        </p:spPr>
      </p:pic>
      <p:sp>
        <p:nvSpPr>
          <p:cNvPr id="18" name="AutoShape 18"/>
          <p:cNvSpPr/>
          <p:nvPr/>
        </p:nvSpPr>
        <p:spPr>
          <a:xfrm>
            <a:off x="5029200" y="3594100"/>
            <a:ext cx="273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02 产业分析报告</a:t>
            </a:r>
            <a:endParaRPr lang="en-US" sz="1100"/>
          </a:p>
          <a:p>
            <a:pPr marL="0" indent="0" algn="l">
              <a:lnSpc>
                <a:spcPct val="125000"/>
              </a:lnSpc>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市场规模、发展趋势与竞争格局</a:t>
            </a:r>
            <a:endPar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9" name="AutoShape 19"/>
          <p:cNvSpPr/>
          <p:nvPr/>
        </p:nvSpPr>
        <p:spPr>
          <a:xfrm>
            <a:off x="4394200" y="4381500"/>
            <a:ext cx="3378200" cy="7874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84700" y="4622800"/>
            <a:ext cx="304800" cy="304800"/>
          </a:xfrm>
          <a:prstGeom prst="rect">
            <a:avLst/>
          </a:prstGeom>
        </p:spPr>
      </p:pic>
      <p:sp>
        <p:nvSpPr>
          <p:cNvPr id="21" name="AutoShape 21"/>
          <p:cNvSpPr/>
          <p:nvPr/>
        </p:nvSpPr>
        <p:spPr>
          <a:xfrm>
            <a:off x="5029200" y="4483100"/>
            <a:ext cx="273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05 职业能力</a:t>
            </a:r>
            <a:r>
              <a:rPr lang="zh-CN" alt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分析表</a:t>
            </a:r>
            <a:endParaRPr lang="zh-CN" alt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0" indent="0" algn="l">
              <a:lnSpc>
                <a:spcPct val="125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岗位胜任力模型与核心技能要求</a:t>
            </a:r>
            <a:endPar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2" name="AutoShape 22"/>
          <p:cNvSpPr/>
          <p:nvPr/>
        </p:nvSpPr>
        <p:spPr>
          <a:xfrm>
            <a:off x="4394200" y="5270500"/>
            <a:ext cx="3378200" cy="7874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84700" y="5511800"/>
            <a:ext cx="304800" cy="304800"/>
          </a:xfrm>
          <a:prstGeom prst="rect">
            <a:avLst/>
          </a:prstGeom>
        </p:spPr>
      </p:pic>
      <p:sp>
        <p:nvSpPr>
          <p:cNvPr id="24" name="AutoShape 24"/>
          <p:cNvSpPr/>
          <p:nvPr/>
        </p:nvSpPr>
        <p:spPr>
          <a:xfrm>
            <a:off x="5029200" y="5372100"/>
            <a:ext cx="273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08 专业教学标准</a:t>
            </a:r>
            <a:endParaRPr lang="en-US" sz="1100"/>
          </a:p>
          <a:p>
            <a:pPr marL="0" indent="0" algn="l">
              <a:lnSpc>
                <a:spcPct val="125000"/>
              </a:lnSpc>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课程体系、教学大纲与质量标准</a:t>
            </a:r>
            <a:endPar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5" name="AutoShape 25"/>
          <p:cNvSpPr/>
          <p:nvPr/>
        </p:nvSpPr>
        <p:spPr>
          <a:xfrm>
            <a:off x="8026400" y="3492500"/>
            <a:ext cx="3378200" cy="7874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16900" y="3733800"/>
            <a:ext cx="304800" cy="304800"/>
          </a:xfrm>
          <a:prstGeom prst="rect">
            <a:avLst/>
          </a:prstGeom>
        </p:spPr>
      </p:pic>
      <p:sp>
        <p:nvSpPr>
          <p:cNvPr id="27" name="AutoShape 27"/>
          <p:cNvSpPr/>
          <p:nvPr/>
        </p:nvSpPr>
        <p:spPr>
          <a:xfrm>
            <a:off x="8661400" y="3594100"/>
            <a:ext cx="273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03 </a:t>
            </a:r>
            <a:r>
              <a:rPr lang="zh-CN" alt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人才培养方案</a:t>
            </a:r>
            <a:endParaRPr lang="en-US" sz="1100"/>
          </a:p>
          <a:p>
            <a:pPr marL="0" indent="0" algn="l">
              <a:lnSpc>
                <a:spcPct val="125000"/>
              </a:lnSpc>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前沿技术、企业动态与行业热点</a:t>
            </a:r>
            <a:endPar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8" name="AutoShape 28"/>
          <p:cNvSpPr/>
          <p:nvPr/>
        </p:nvSpPr>
        <p:spPr>
          <a:xfrm>
            <a:off x="8026400" y="4381500"/>
            <a:ext cx="3378200" cy="7874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16900" y="4622800"/>
            <a:ext cx="304800" cy="304800"/>
          </a:xfrm>
          <a:prstGeom prst="rect">
            <a:avLst/>
          </a:prstGeom>
        </p:spPr>
      </p:pic>
      <p:sp>
        <p:nvSpPr>
          <p:cNvPr id="30" name="AutoShape 30"/>
          <p:cNvSpPr/>
          <p:nvPr/>
        </p:nvSpPr>
        <p:spPr>
          <a:xfrm>
            <a:off x="8661400" y="4483100"/>
            <a:ext cx="273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06 专业布点数据</a:t>
            </a:r>
            <a:endParaRPr lang="en-US" sz="1100"/>
          </a:p>
          <a:p>
            <a:pPr marL="0" indent="0" algn="l">
              <a:lnSpc>
                <a:spcPct val="125000"/>
              </a:lnSpc>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区域分布、招生规模与开设院校</a:t>
            </a:r>
            <a:endPar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31" name="AutoShape 31"/>
          <p:cNvSpPr/>
          <p:nvPr/>
        </p:nvSpPr>
        <p:spPr>
          <a:xfrm>
            <a:off x="8026400" y="5270500"/>
            <a:ext cx="3378200" cy="7874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216900" y="5511800"/>
            <a:ext cx="304800" cy="304800"/>
          </a:xfrm>
          <a:prstGeom prst="rect">
            <a:avLst/>
          </a:prstGeom>
        </p:spPr>
      </p:pic>
      <p:sp>
        <p:nvSpPr>
          <p:cNvPr id="33" name="AutoShape 33"/>
          <p:cNvSpPr/>
          <p:nvPr/>
        </p:nvSpPr>
        <p:spPr>
          <a:xfrm>
            <a:off x="8661400" y="5372100"/>
            <a:ext cx="273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09 核心教材资源</a:t>
            </a:r>
            <a:endParaRPr lang="en-US" sz="1100"/>
          </a:p>
          <a:p>
            <a:pPr marL="0" indent="0" algn="l">
              <a:lnSpc>
                <a:spcPct val="125000"/>
              </a:lnSpc>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精品教材、数字化课程与教辅资料</a:t>
            </a:r>
            <a:endPar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F293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255000" y="-1905000"/>
            <a:ext cx="5080000" cy="5080000"/>
          </a:xfrm>
          <a:prstGeom prst="ellipse">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524000" y="4064000"/>
            <a:ext cx="4445000" cy="4445000"/>
          </a:xfrm>
          <a:prstGeom prst="ellipse">
            <a:avLst/>
          </a:prstGeom>
          <a:solidFill>
            <a:srgbClr val="22C55E">
              <a:alpha val="6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2286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PART 02</a:t>
            </a:r>
            <a:endParaRPr lang="en-US" sz="1100"/>
          </a:p>
        </p:txBody>
      </p:sp>
      <p:sp>
        <p:nvSpPr>
          <p:cNvPr id="5" name="AutoShape 5"/>
          <p:cNvSpPr/>
          <p:nvPr/>
        </p:nvSpPr>
        <p:spPr>
          <a:xfrm>
            <a:off x="0" y="3048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技术实现与核心设计</a:t>
            </a:r>
            <a:endParaRPr lang="en-US" sz="1100"/>
          </a:p>
        </p:txBody>
      </p:sp>
      <p:sp>
        <p:nvSpPr>
          <p:cNvPr id="6" name="AutoShape 6"/>
          <p:cNvSpPr/>
          <p:nvPr/>
        </p:nvSpPr>
        <p:spPr>
          <a:xfrm>
            <a:off x="5461000" y="4381500"/>
            <a:ext cx="1270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0" y="4889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构建统一、智能、可追溯的知识底座</a:t>
            </a:r>
            <a:endParaRPr lang="en-US" sz="1100"/>
          </a:p>
        </p:txBody>
      </p:sp>
      <p:sp>
        <p:nvSpPr>
          <p:cNvPr id="8" name="AutoShape 8"/>
          <p:cNvSpPr/>
          <p:nvPr/>
        </p:nvSpPr>
        <p:spPr>
          <a:xfrm>
            <a:off x="1016000" y="3606800"/>
            <a:ext cx="152400" cy="152400"/>
          </a:xfrm>
          <a:prstGeom prst="roundRect">
            <a:avLst>
              <a:gd name="adj" fmla="val 0"/>
            </a:avLst>
          </a:prstGeom>
          <a:solidFill>
            <a:srgbClr val="22C55E">
              <a:alpha val="2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023600" y="3606800"/>
            <a:ext cx="152400" cy="152400"/>
          </a:xfrm>
          <a:prstGeom prst="roundRect">
            <a:avLst>
              <a:gd name="adj" fmla="val 0"/>
            </a:avLst>
          </a:prstGeom>
          <a:solidFill>
            <a:srgbClr val="22C55E">
              <a:alpha val="25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端到端处理流程：从原始数据到智能检索</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我们构建了全链路自动化的知识处理闭环，通过标准化的流水线作业，将分散、异构的原始数据转化为高价值的可计算知识，为业务决策提供精准、高效的智能支撑。</a:t>
            </a:r>
            <a:endParaRPr lang="en-US" sz="1100"/>
          </a:p>
        </p:txBody>
      </p:sp>
      <p:sp>
        <p:nvSpPr>
          <p:cNvPr id="5" name="AutoShape 5"/>
          <p:cNvSpPr/>
          <p:nvPr/>
        </p:nvSpPr>
        <p:spPr>
          <a:xfrm>
            <a:off x="762000" y="2794000"/>
            <a:ext cx="2032000" cy="2159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5200" y="2997200"/>
            <a:ext cx="406400" cy="406400"/>
          </a:xfrm>
          <a:prstGeom prst="rect">
            <a:avLst/>
          </a:prstGeom>
        </p:spPr>
      </p:pic>
      <p:sp>
        <p:nvSpPr>
          <p:cNvPr id="7" name="AutoShape 7"/>
          <p:cNvSpPr/>
          <p:nvPr/>
        </p:nvSpPr>
        <p:spPr>
          <a:xfrm>
            <a:off x="965200" y="35560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01 数据接入</a:t>
            </a:r>
            <a:endParaRPr lang="en-US" sz="1100"/>
          </a:p>
        </p:txBody>
      </p:sp>
      <p:sp>
        <p:nvSpPr>
          <p:cNvPr id="8" name="AutoShape 8"/>
          <p:cNvSpPr/>
          <p:nvPr/>
        </p:nvSpPr>
        <p:spPr>
          <a:xfrm>
            <a:off x="965200" y="4064000"/>
            <a:ext cx="165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支持PDF、Office文档及各类数据库的统一接入，实现多源异构数据的无缝汇聚。</a:t>
            </a:r>
            <a:endParaRPr lang="en-US" sz="1100"/>
          </a:p>
        </p:txBody>
      </p:sp>
      <p:sp>
        <p:nvSpPr>
          <p:cNvPr id="9" name="AutoShape 9"/>
          <p:cNvSpPr/>
          <p:nvPr/>
        </p:nvSpPr>
        <p:spPr>
          <a:xfrm>
            <a:off x="2984500" y="2794000"/>
            <a:ext cx="2032000" cy="2159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87700" y="2997200"/>
            <a:ext cx="406400" cy="406400"/>
          </a:xfrm>
          <a:prstGeom prst="rect">
            <a:avLst/>
          </a:prstGeom>
        </p:spPr>
      </p:pic>
      <p:sp>
        <p:nvSpPr>
          <p:cNvPr id="11" name="AutoShape 11"/>
          <p:cNvSpPr/>
          <p:nvPr/>
        </p:nvSpPr>
        <p:spPr>
          <a:xfrm>
            <a:off x="3187700" y="35560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02 解析标准化</a:t>
            </a:r>
            <a:endParaRPr lang="en-US" sz="1100"/>
          </a:p>
        </p:txBody>
      </p:sp>
      <p:sp>
        <p:nvSpPr>
          <p:cNvPr id="12" name="AutoShape 12"/>
          <p:cNvSpPr/>
          <p:nvPr/>
        </p:nvSpPr>
        <p:spPr>
          <a:xfrm>
            <a:off x="3187700" y="4064000"/>
            <a:ext cx="165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利用智能解析技术提取文本、表格与图片信息，完成非结构化数据的结构化转换。</a:t>
            </a:r>
            <a:endParaRPr lang="en-US" sz="1100"/>
          </a:p>
        </p:txBody>
      </p:sp>
      <p:sp>
        <p:nvSpPr>
          <p:cNvPr id="13" name="AutoShape 13"/>
          <p:cNvSpPr/>
          <p:nvPr/>
        </p:nvSpPr>
        <p:spPr>
          <a:xfrm>
            <a:off x="5207000" y="2794000"/>
            <a:ext cx="2032000" cy="2159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10200" y="2997200"/>
            <a:ext cx="406400" cy="406400"/>
          </a:xfrm>
          <a:prstGeom prst="rect">
            <a:avLst/>
          </a:prstGeom>
        </p:spPr>
      </p:pic>
      <p:sp>
        <p:nvSpPr>
          <p:cNvPr id="15" name="AutoShape 15"/>
          <p:cNvSpPr/>
          <p:nvPr/>
        </p:nvSpPr>
        <p:spPr>
          <a:xfrm>
            <a:off x="5410200" y="35560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03 AI智能治理</a:t>
            </a:r>
            <a:endParaRPr lang="en-US" sz="1100"/>
          </a:p>
        </p:txBody>
      </p:sp>
      <p:sp>
        <p:nvSpPr>
          <p:cNvPr id="16" name="AutoShape 16"/>
          <p:cNvSpPr/>
          <p:nvPr/>
        </p:nvSpPr>
        <p:spPr>
          <a:xfrm>
            <a:off x="5410200" y="4064000"/>
            <a:ext cx="165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自动完成内容分类、标签抽取与质量智能打分，构建规范化的知识元数据体系。</a:t>
            </a:r>
            <a:endParaRPr lang="en-US" sz="1100"/>
          </a:p>
        </p:txBody>
      </p:sp>
      <p:sp>
        <p:nvSpPr>
          <p:cNvPr id="17" name="AutoShape 17"/>
          <p:cNvSpPr/>
          <p:nvPr/>
        </p:nvSpPr>
        <p:spPr>
          <a:xfrm>
            <a:off x="7429500" y="2794000"/>
            <a:ext cx="2032000" cy="2159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32700" y="2997200"/>
            <a:ext cx="406400" cy="406400"/>
          </a:xfrm>
          <a:prstGeom prst="rect">
            <a:avLst/>
          </a:prstGeom>
        </p:spPr>
      </p:pic>
      <p:sp>
        <p:nvSpPr>
          <p:cNvPr id="19" name="AutoShape 19"/>
          <p:cNvSpPr/>
          <p:nvPr/>
        </p:nvSpPr>
        <p:spPr>
          <a:xfrm>
            <a:off x="7632700" y="35560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04 知识深加工</a:t>
            </a:r>
            <a:endParaRPr lang="en-US" sz="1100"/>
          </a:p>
        </p:txBody>
      </p:sp>
      <p:sp>
        <p:nvSpPr>
          <p:cNvPr id="20" name="AutoShape 20"/>
          <p:cNvSpPr/>
          <p:nvPr/>
        </p:nvSpPr>
        <p:spPr>
          <a:xfrm>
            <a:off x="7632700" y="4064000"/>
            <a:ext cx="165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基于语义进行智能切块与向量化索引，自动生成知识大纲，强化知识间的关联。</a:t>
            </a:r>
            <a:endParaRPr lang="en-US" sz="1100"/>
          </a:p>
        </p:txBody>
      </p:sp>
      <p:sp>
        <p:nvSpPr>
          <p:cNvPr id="21" name="AutoShape 21"/>
          <p:cNvSpPr/>
          <p:nvPr/>
        </p:nvSpPr>
        <p:spPr>
          <a:xfrm>
            <a:off x="9652000" y="2794000"/>
            <a:ext cx="2032000" cy="2159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55200" y="2997200"/>
            <a:ext cx="406400" cy="406400"/>
          </a:xfrm>
          <a:prstGeom prst="rect">
            <a:avLst/>
          </a:prstGeom>
        </p:spPr>
      </p:pic>
      <p:sp>
        <p:nvSpPr>
          <p:cNvPr id="23" name="AutoShape 23"/>
          <p:cNvSpPr/>
          <p:nvPr/>
        </p:nvSpPr>
        <p:spPr>
          <a:xfrm>
            <a:off x="9855200" y="35560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05 智能检索</a:t>
            </a:r>
            <a:endParaRPr lang="en-US" sz="1100"/>
          </a:p>
        </p:txBody>
      </p:sp>
      <p:sp>
        <p:nvSpPr>
          <p:cNvPr id="24" name="AutoShape 24"/>
          <p:cNvSpPr/>
          <p:nvPr/>
        </p:nvSpPr>
        <p:spPr>
          <a:xfrm>
            <a:off x="9855200" y="4064000"/>
            <a:ext cx="165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精准理解用户意图，智能分派检索策略，自动汇总多源证据，实现高效问答。</a:t>
            </a:r>
            <a:endParaRPr lang="en-US" sz="1100"/>
          </a:p>
        </p:txBody>
      </p:sp>
      <p:sp>
        <p:nvSpPr>
          <p:cNvPr id="25" name="AutoShape 25"/>
          <p:cNvSpPr/>
          <p:nvPr/>
        </p:nvSpPr>
        <p:spPr>
          <a:xfrm>
            <a:off x="762000" y="5270500"/>
            <a:ext cx="10922000" cy="10160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461000"/>
            <a:ext cx="304800" cy="304800"/>
          </a:xfrm>
          <a:prstGeom prst="rect">
            <a:avLst/>
          </a:prstGeom>
        </p:spPr>
      </p:pic>
      <p:sp>
        <p:nvSpPr>
          <p:cNvPr id="27" name="AutoShape 27"/>
          <p:cNvSpPr/>
          <p:nvPr/>
        </p:nvSpPr>
        <p:spPr>
          <a:xfrm>
            <a:off x="1460500" y="5435600"/>
            <a:ext cx="1003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核心优势：双轨并行架构</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 针对非结构化文档与结构化数据设计独立的并行处理管线，在治理环节实现标准化汇合，确保异构数据以统一的知识标准进入加工环节，极大提升了处理效率与知识融合的准确性。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知识加工：语义切块——决定检索质量的第一道关</a:t>
            </a:r>
            <a:endParaRPr lang="en-US" sz="1100"/>
          </a:p>
        </p:txBody>
      </p:sp>
      <p:sp>
        <p:nvSpPr>
          <p:cNvPr id="4" name="AutoShape 4"/>
          <p:cNvSpPr/>
          <p:nvPr/>
        </p:nvSpPr>
        <p:spPr>
          <a:xfrm>
            <a:off x="762000" y="1714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我们坚信，</a:t>
            </a:r>
            <a:r>
              <a:rPr lang="en-US" sz="14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加工质量决定检索的天花板</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。为此，我们设计了一套包含</a:t>
            </a:r>
            <a:r>
              <a:rPr lang="en-US" sz="14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10道工序的精细化加工流水线</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，对知识单元进行多维度清洗、重组与增强，确保每一个语义切块（Chunk）都具备高可用性与高关联性，为精准检索筑牢基石。</a:t>
            </a:r>
            <a:endParaRPr lang="en-US" sz="1100"/>
          </a:p>
        </p:txBody>
      </p:sp>
      <p:sp>
        <p:nvSpPr>
          <p:cNvPr id="5" name="AutoShape 5"/>
          <p:cNvSpPr/>
          <p:nvPr/>
        </p:nvSpPr>
        <p:spPr>
          <a:xfrm>
            <a:off x="762000" y="26670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889000" y="27178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01 政策章节标题识别</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自动识别并恢复文档中丢失的章节层级，还原政策条款的完整上下文逻辑。</a:t>
            </a:r>
            <a:endParaRPr lang="en-US" sz="1100"/>
          </a:p>
        </p:txBody>
      </p:sp>
      <p:sp>
        <p:nvSpPr>
          <p:cNvPr id="7" name="AutoShape 7"/>
          <p:cNvSpPr/>
          <p:nvPr/>
        </p:nvSpPr>
        <p:spPr>
          <a:xfrm>
            <a:off x="762000" y="34671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889000" y="35179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02 指标卡片提取</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精准提取报告中的关键KPI数据，独立封装避免关键数值被文本信息淹没。</a:t>
            </a:r>
            <a:endParaRPr lang="en-US" sz="1100"/>
          </a:p>
        </p:txBody>
      </p:sp>
      <p:sp>
        <p:nvSpPr>
          <p:cNvPr id="9" name="AutoShape 9"/>
          <p:cNvSpPr/>
          <p:nvPr/>
        </p:nvSpPr>
        <p:spPr>
          <a:xfrm>
            <a:off x="762000" y="42672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889000" y="4318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03 导航块智能剔除</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自动过滤目录、页眉页脚等导航冗余信息，剔除干扰项，保障检索信噪比。</a:t>
            </a:r>
            <a:endParaRPr lang="en-US" sz="1100"/>
          </a:p>
        </p:txBody>
      </p:sp>
      <p:sp>
        <p:nvSpPr>
          <p:cNvPr id="11" name="AutoShape 11"/>
          <p:cNvSpPr/>
          <p:nvPr/>
        </p:nvSpPr>
        <p:spPr>
          <a:xfrm>
            <a:off x="762000" y="50673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889000" y="51181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04 无意义内容深度清洗</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识别并移除水印、二维码描述等8类噪声，从源头净化知识库内容。</a:t>
            </a:r>
            <a:endParaRPr lang="en-US" sz="1100"/>
          </a:p>
        </p:txBody>
      </p:sp>
      <p:sp>
        <p:nvSpPr>
          <p:cNvPr id="13" name="AutoShape 13"/>
          <p:cNvSpPr/>
          <p:nvPr/>
        </p:nvSpPr>
        <p:spPr>
          <a:xfrm>
            <a:off x="762000" y="58674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889000" y="59182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05 图表信息归属归并</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将图表标题、图例与本体智能关联，确保图文信息完整性，不丢失线索。</a:t>
            </a:r>
            <a:endParaRPr lang="en-US" sz="1100"/>
          </a:p>
        </p:txBody>
      </p:sp>
      <p:sp>
        <p:nvSpPr>
          <p:cNvPr id="15" name="AutoShape 15"/>
          <p:cNvSpPr/>
          <p:nvPr/>
        </p:nvSpPr>
        <p:spPr>
          <a:xfrm>
            <a:off x="6223000" y="26670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350000" y="27178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06 跨页段落智能缝合</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自动拼接因分页截断的长段落，修复文档碎片化问题，还原完整语义。</a:t>
            </a:r>
            <a:endParaRPr lang="en-US" sz="1100"/>
          </a:p>
        </p:txBody>
      </p:sp>
      <p:sp>
        <p:nvSpPr>
          <p:cNvPr id="17" name="AutoShape 17"/>
          <p:cNvSpPr/>
          <p:nvPr/>
        </p:nvSpPr>
        <p:spPr>
          <a:xfrm>
            <a:off x="6223000" y="34671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350000" y="35179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07 缝合后残留噪声清洗</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针对拼接后产生的页眉残留、版权声明等次生噪声进行二次深度清洗。</a:t>
            </a:r>
            <a:endParaRPr lang="en-US" sz="1100"/>
          </a:p>
        </p:txBody>
      </p:sp>
      <p:sp>
        <p:nvSpPr>
          <p:cNvPr id="19" name="AutoShape 19"/>
          <p:cNvSpPr/>
          <p:nvPr/>
        </p:nvSpPr>
        <p:spPr>
          <a:xfrm>
            <a:off x="6223000" y="42672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350000" y="4318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08 结构化行记录表分解</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将岗位表、清单等按行拆分为独立记录，实现对结构化数据的精准检索。</a:t>
            </a:r>
            <a:endParaRPr lang="en-US" sz="1100"/>
          </a:p>
        </p:txBody>
      </p:sp>
      <p:sp>
        <p:nvSpPr>
          <p:cNvPr id="21" name="AutoShape 21"/>
          <p:cNvSpPr/>
          <p:nvPr/>
        </p:nvSpPr>
        <p:spPr>
          <a:xfrm>
            <a:off x="6223000" y="50673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350000" y="51181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09 全链路章节路径注入</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为知识单元打上完整层级标签，支持“命中一点，返回全章”的关联检索。</a:t>
            </a:r>
            <a:endParaRPr lang="en-US" sz="1100"/>
          </a:p>
        </p:txBody>
      </p:sp>
      <p:sp>
        <p:nvSpPr>
          <p:cNvPr id="23" name="AutoShape 23"/>
          <p:cNvSpPr/>
          <p:nvPr/>
        </p:nvSpPr>
        <p:spPr>
          <a:xfrm>
            <a:off x="6223000" y="5867400"/>
            <a:ext cx="5270500" cy="7366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350000" y="59182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10 冗余内容智能去重</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通过语义指纹识别并合并重复内容，避免信息同质化，提升检索效率。</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切块质量的量化追踪：让质量“看得见”</a:t>
            </a:r>
            <a:endParaRPr lang="en-US" sz="1100"/>
          </a:p>
        </p:txBody>
      </p:sp>
      <p:sp>
        <p:nvSpPr>
          <p:cNvPr id="4" name="AutoShape 4"/>
          <p:cNvSpPr/>
          <p:nvPr/>
        </p:nvSpPr>
        <p:spPr>
          <a:xfrm>
            <a:off x="762000" y="15875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拒绝“感觉切得好”的主观判断，坚持“数据说了算”的客观标准。系统自动对每份知识资产进行7个维度的定量检查，将隐性的质量问题转化为显性的数字指标，为知识资产的入库建立严格的质量标尺。</a:t>
            </a:r>
            <a:endParaRPr lang="en-US" sz="1100"/>
          </a:p>
        </p:txBody>
      </p:sp>
      <p:sp>
        <p:nvSpPr>
          <p:cNvPr id="5" name="AutoShape 5"/>
          <p:cNvSpPr/>
          <p:nvPr/>
        </p:nvSpPr>
        <p:spPr>
          <a:xfrm>
            <a:off x="762000" y="2413000"/>
            <a:ext cx="1066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7大核心评估维度，全链路质量把关</a:t>
            </a:r>
            <a:endParaRPr lang="en-US" sz="1100"/>
          </a:p>
        </p:txBody>
      </p:sp>
      <p:sp>
        <p:nvSpPr>
          <p:cNvPr id="6" name="AutoShape 6"/>
          <p:cNvSpPr/>
          <p:nvPr/>
        </p:nvSpPr>
        <p:spPr>
          <a:xfrm>
            <a:off x="762000" y="2857500"/>
            <a:ext cx="2540000" cy="10795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3009900"/>
            <a:ext cx="304800" cy="304800"/>
          </a:xfrm>
          <a:prstGeom prst="rect">
            <a:avLst/>
          </a:prstGeom>
        </p:spPr>
      </p:pic>
      <p:sp>
        <p:nvSpPr>
          <p:cNvPr id="8" name="AutoShape 8"/>
          <p:cNvSpPr/>
          <p:nvPr/>
        </p:nvSpPr>
        <p:spPr>
          <a:xfrm>
            <a:off x="1295400" y="30099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结构覆盖完整性</a:t>
            </a:r>
            <a:endParaRPr lang="en-US" sz="1100"/>
          </a:p>
        </p:txBody>
      </p:sp>
      <p:sp>
        <p:nvSpPr>
          <p:cNvPr id="9" name="AutoShape 9"/>
          <p:cNvSpPr/>
          <p:nvPr/>
        </p:nvSpPr>
        <p:spPr>
          <a:xfrm>
            <a:off x="914400" y="33655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检查知识单元的章节路径是否完整，杜绝关键层级与节点的缺失。</a:t>
            </a:r>
            <a:endParaRPr lang="en-US" sz="1100"/>
          </a:p>
        </p:txBody>
      </p:sp>
      <p:sp>
        <p:nvSpPr>
          <p:cNvPr id="10" name="AutoShape 10"/>
          <p:cNvSpPr/>
          <p:nvPr/>
        </p:nvSpPr>
        <p:spPr>
          <a:xfrm>
            <a:off x="3467100" y="2857500"/>
            <a:ext cx="2540000" cy="10795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3009900"/>
            <a:ext cx="304800" cy="304800"/>
          </a:xfrm>
          <a:prstGeom prst="rect">
            <a:avLst/>
          </a:prstGeom>
        </p:spPr>
      </p:pic>
      <p:sp>
        <p:nvSpPr>
          <p:cNvPr id="12" name="AutoShape 12"/>
          <p:cNvSpPr/>
          <p:nvPr/>
        </p:nvSpPr>
        <p:spPr>
          <a:xfrm>
            <a:off x="4000500" y="30099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单元大小合理性</a:t>
            </a:r>
            <a:endParaRPr lang="en-US" sz="1100"/>
          </a:p>
        </p:txBody>
      </p:sp>
      <p:sp>
        <p:nvSpPr>
          <p:cNvPr id="13" name="AutoShape 13"/>
          <p:cNvSpPr/>
          <p:nvPr/>
        </p:nvSpPr>
        <p:spPr>
          <a:xfrm>
            <a:off x="3619500" y="33655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分析知识单元篇幅分布，规避内容过长碎片化不足或过短信息不全。</a:t>
            </a:r>
            <a:endParaRPr lang="en-US" sz="1100"/>
          </a:p>
        </p:txBody>
      </p:sp>
      <p:sp>
        <p:nvSpPr>
          <p:cNvPr id="14" name="AutoShape 14"/>
          <p:cNvSpPr/>
          <p:nvPr/>
        </p:nvSpPr>
        <p:spPr>
          <a:xfrm>
            <a:off x="6172200" y="2857500"/>
            <a:ext cx="2540000" cy="10795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24600" y="3009900"/>
            <a:ext cx="304800" cy="304800"/>
          </a:xfrm>
          <a:prstGeom prst="rect">
            <a:avLst/>
          </a:prstGeom>
        </p:spPr>
      </p:pic>
      <p:sp>
        <p:nvSpPr>
          <p:cNvPr id="16" name="AutoShape 16"/>
          <p:cNvSpPr/>
          <p:nvPr/>
        </p:nvSpPr>
        <p:spPr>
          <a:xfrm>
            <a:off x="6705600" y="30099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边界风险控制</a:t>
            </a:r>
            <a:endParaRPr lang="en-US" sz="1100"/>
          </a:p>
        </p:txBody>
      </p:sp>
      <p:sp>
        <p:nvSpPr>
          <p:cNvPr id="17" name="AutoShape 17"/>
          <p:cNvSpPr/>
          <p:nvPr/>
        </p:nvSpPr>
        <p:spPr>
          <a:xfrm>
            <a:off x="6324600" y="33655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识别跨页面、跨标题的错误合并，确保知识单元的逻辑边界清晰。</a:t>
            </a:r>
            <a:endParaRPr lang="en-US" sz="1100"/>
          </a:p>
        </p:txBody>
      </p:sp>
      <p:sp>
        <p:nvSpPr>
          <p:cNvPr id="18" name="AutoShape 18"/>
          <p:cNvSpPr/>
          <p:nvPr/>
        </p:nvSpPr>
        <p:spPr>
          <a:xfrm>
            <a:off x="8877300" y="2857500"/>
            <a:ext cx="2540000" cy="10795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29700" y="3009900"/>
            <a:ext cx="304800" cy="304800"/>
          </a:xfrm>
          <a:prstGeom prst="rect">
            <a:avLst/>
          </a:prstGeom>
        </p:spPr>
      </p:pic>
      <p:sp>
        <p:nvSpPr>
          <p:cNvPr id="20" name="AutoShape 20"/>
          <p:cNvSpPr/>
          <p:nvPr/>
        </p:nvSpPr>
        <p:spPr>
          <a:xfrm>
            <a:off x="9410700" y="30099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无关噪声净化</a:t>
            </a:r>
            <a:endParaRPr lang="en-US" sz="1100"/>
          </a:p>
        </p:txBody>
      </p:sp>
      <p:sp>
        <p:nvSpPr>
          <p:cNvPr id="21" name="AutoShape 21"/>
          <p:cNvSpPr/>
          <p:nvPr/>
        </p:nvSpPr>
        <p:spPr>
          <a:xfrm>
            <a:off x="9029700" y="33655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检测目录、版权页、页眉页脚等干扰信息占比，提纯知识主体。</a:t>
            </a:r>
            <a:endParaRPr lang="en-US" sz="1100"/>
          </a:p>
        </p:txBody>
      </p:sp>
      <p:sp>
        <p:nvSpPr>
          <p:cNvPr id="22" name="AutoShape 22"/>
          <p:cNvSpPr/>
          <p:nvPr/>
        </p:nvSpPr>
        <p:spPr>
          <a:xfrm>
            <a:off x="762000" y="4000500"/>
            <a:ext cx="3429000" cy="1016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4400" y="4152900"/>
            <a:ext cx="279400" cy="279400"/>
          </a:xfrm>
          <a:prstGeom prst="rect">
            <a:avLst/>
          </a:prstGeom>
        </p:spPr>
      </p:pic>
      <p:sp>
        <p:nvSpPr>
          <p:cNvPr id="24" name="AutoShape 24"/>
          <p:cNvSpPr/>
          <p:nvPr/>
        </p:nvSpPr>
        <p:spPr>
          <a:xfrm>
            <a:off x="1295400" y="4152900"/>
            <a:ext cx="2857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表格智能解析</a:t>
            </a:r>
            <a:endParaRPr lang="en-US" sz="1100"/>
          </a:p>
        </p:txBody>
      </p:sp>
      <p:sp>
        <p:nvSpPr>
          <p:cNvPr id="25" name="AutoShape 25"/>
          <p:cNvSpPr/>
          <p:nvPr/>
        </p:nvSpPr>
        <p:spPr>
          <a:xfrm>
            <a:off x="914400" y="44958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验证大型表格的自动识别与结构化分解效果，确保数据无损还原。</a:t>
            </a:r>
            <a:endParaRPr lang="en-US" sz="1100"/>
          </a:p>
        </p:txBody>
      </p:sp>
      <p:sp>
        <p:nvSpPr>
          <p:cNvPr id="26" name="AutoShape 26"/>
          <p:cNvSpPr/>
          <p:nvPr/>
        </p:nvSpPr>
        <p:spPr>
          <a:xfrm>
            <a:off x="4381500" y="4000500"/>
            <a:ext cx="3429000" cy="1016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33900" y="4152900"/>
            <a:ext cx="279400" cy="279400"/>
          </a:xfrm>
          <a:prstGeom prst="rect">
            <a:avLst/>
          </a:prstGeom>
        </p:spPr>
      </p:pic>
      <p:sp>
        <p:nvSpPr>
          <p:cNvPr id="28" name="AutoShape 28"/>
          <p:cNvSpPr/>
          <p:nvPr/>
        </p:nvSpPr>
        <p:spPr>
          <a:xfrm>
            <a:off x="4914900" y="4152900"/>
            <a:ext cx="2857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大纲关联匹配</a:t>
            </a:r>
            <a:endParaRPr lang="en-US" sz="1100"/>
          </a:p>
        </p:txBody>
      </p:sp>
      <p:sp>
        <p:nvSpPr>
          <p:cNvPr id="29" name="AutoShape 29"/>
          <p:cNvSpPr/>
          <p:nvPr/>
        </p:nvSpPr>
        <p:spPr>
          <a:xfrm>
            <a:off x="4533900" y="44958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核对教材内容与标准知识大纲的映射关系，确保知识点无遗漏。</a:t>
            </a:r>
            <a:endParaRPr lang="en-US" sz="1100"/>
          </a:p>
        </p:txBody>
      </p:sp>
      <p:sp>
        <p:nvSpPr>
          <p:cNvPr id="30" name="AutoShape 30"/>
          <p:cNvSpPr/>
          <p:nvPr/>
        </p:nvSpPr>
        <p:spPr>
          <a:xfrm>
            <a:off x="8001000" y="4000500"/>
            <a:ext cx="3429000" cy="1016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153400" y="4152900"/>
            <a:ext cx="279400" cy="279400"/>
          </a:xfrm>
          <a:prstGeom prst="rect">
            <a:avLst/>
          </a:prstGeom>
        </p:spPr>
      </p:pic>
      <p:sp>
        <p:nvSpPr>
          <p:cNvPr id="32" name="AutoShape 32"/>
          <p:cNvSpPr/>
          <p:nvPr/>
        </p:nvSpPr>
        <p:spPr>
          <a:xfrm>
            <a:off x="8534400" y="4152900"/>
            <a:ext cx="2857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检索可用性判定</a:t>
            </a:r>
            <a:endParaRPr lang="en-US" sz="1100"/>
          </a:p>
        </p:txBody>
      </p:sp>
      <p:sp>
        <p:nvSpPr>
          <p:cNvPr id="33" name="AutoShape 33"/>
          <p:cNvSpPr/>
          <p:nvPr/>
        </p:nvSpPr>
        <p:spPr>
          <a:xfrm>
            <a:off x="8153400" y="44958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综合评估资产的语义清晰度与索引完备性，判定是否具备上线条件。</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差异化加工策略：为不同资产“量身定制”</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针对9类性质迥异的资产，我们摒弃“一刀切”的处理模式，为每类资产设计专属的加工方案，确保其结构特征与使用场景高度匹配，从而实现数据的高效处理与精准价值挖掘。</a:t>
            </a:r>
            <a:endParaRPr lang="en-US" sz="1100"/>
          </a:p>
        </p:txBody>
      </p:sp>
      <p:sp>
        <p:nvSpPr>
          <p:cNvPr id="5" name="AutoShape 5"/>
          <p:cNvSpPr/>
          <p:nvPr/>
        </p:nvSpPr>
        <p:spPr>
          <a:xfrm>
            <a:off x="762000" y="2540000"/>
            <a:ext cx="3429000" cy="1778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730500"/>
            <a:ext cx="304800" cy="304800"/>
          </a:xfrm>
          <a:prstGeom prst="rect">
            <a:avLst/>
          </a:prstGeom>
        </p:spPr>
      </p:pic>
      <p:sp>
        <p:nvSpPr>
          <p:cNvPr id="7" name="AutoShape 7"/>
          <p:cNvSpPr/>
          <p:nvPr/>
        </p:nvSpPr>
        <p:spPr>
          <a:xfrm>
            <a:off x="1333500" y="27051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产业政策与报告文档</a:t>
            </a:r>
            <a:endParaRPr lang="en-US" sz="1100"/>
          </a:p>
        </p:txBody>
      </p:sp>
      <p:cxnSp>
        <p:nvCxnSpPr>
          <p:cNvPr id="8" name="Connector 8"/>
          <p:cNvCxnSpPr/>
          <p:nvPr/>
        </p:nvCxnSpPr>
        <p:spPr>
          <a:xfrm rot="-14323">
            <a:off x="952513" y="3168650"/>
            <a:ext cx="304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952500" y="32766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策略：</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保留章节层级的语义切块</a:t>
            </a:r>
            <a:b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价值：</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完整还原长文档的上下文逻辑，支持按章节、段落的深度检索与阅读，确保信息的完整性。</a:t>
            </a:r>
            <a:endParaRPr lang="en-US" sz="1100"/>
          </a:p>
        </p:txBody>
      </p:sp>
      <p:sp>
        <p:nvSpPr>
          <p:cNvPr id="10" name="AutoShape 10"/>
          <p:cNvSpPr/>
          <p:nvPr/>
        </p:nvSpPr>
        <p:spPr>
          <a:xfrm>
            <a:off x="4381500" y="2540000"/>
            <a:ext cx="3429000" cy="1778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730500"/>
            <a:ext cx="304800" cy="304800"/>
          </a:xfrm>
          <a:prstGeom prst="rect">
            <a:avLst/>
          </a:prstGeom>
        </p:spPr>
      </p:pic>
      <p:sp>
        <p:nvSpPr>
          <p:cNvPr id="12" name="AutoShape 12"/>
          <p:cNvSpPr/>
          <p:nvPr/>
        </p:nvSpPr>
        <p:spPr>
          <a:xfrm>
            <a:off x="4953000" y="27051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岗位信息与布点数据</a:t>
            </a:r>
            <a:endParaRPr lang="en-US" sz="1100"/>
          </a:p>
        </p:txBody>
      </p:sp>
      <p:cxnSp>
        <p:nvCxnSpPr>
          <p:cNvPr id="13" name="Connector 13"/>
          <p:cNvCxnSpPr/>
          <p:nvPr/>
        </p:nvCxnSpPr>
        <p:spPr>
          <a:xfrm rot="-14323">
            <a:off x="4572013" y="3168650"/>
            <a:ext cx="304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4572000" y="32766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策略：</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结构化逐行拆解为独立记录</a:t>
            </a:r>
            <a:b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价值：</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将表格数据转化为可检索的原子化信息，支持对岗位名称、地域分布、招聘人数等维度的精准筛选。</a:t>
            </a:r>
            <a:endParaRPr lang="en-US" sz="1100"/>
          </a:p>
        </p:txBody>
      </p:sp>
      <p:sp>
        <p:nvSpPr>
          <p:cNvPr id="15" name="AutoShape 15"/>
          <p:cNvSpPr/>
          <p:nvPr/>
        </p:nvSpPr>
        <p:spPr>
          <a:xfrm>
            <a:off x="8001000" y="2540000"/>
            <a:ext cx="3429000" cy="1778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2730500"/>
            <a:ext cx="304800" cy="304800"/>
          </a:xfrm>
          <a:prstGeom prst="rect">
            <a:avLst/>
          </a:prstGeom>
        </p:spPr>
      </p:pic>
      <p:sp>
        <p:nvSpPr>
          <p:cNvPr id="17" name="AutoShape 17"/>
          <p:cNvSpPr/>
          <p:nvPr/>
        </p:nvSpPr>
        <p:spPr>
          <a:xfrm>
            <a:off x="8572500" y="27051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教学标准与教材资源</a:t>
            </a:r>
            <a:endParaRPr lang="en-US" sz="1100"/>
          </a:p>
        </p:txBody>
      </p:sp>
      <p:cxnSp>
        <p:nvCxnSpPr>
          <p:cNvPr id="18" name="Connector 18"/>
          <p:cNvCxnSpPr/>
          <p:nvPr/>
        </p:nvCxnSpPr>
        <p:spPr>
          <a:xfrm rot="-14323">
            <a:off x="8191513" y="3168650"/>
            <a:ext cx="304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8191500" y="32766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策略：</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知识大纲 + 语义切块 + 图谱</a:t>
            </a:r>
            <a:b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价值：</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构建从宏观到微观的知识导航体系，实现按知识点、能力点、课程模块的多维关联与溯源。</a:t>
            </a:r>
            <a:endParaRPr lang="en-US" sz="1100"/>
          </a:p>
        </p:txBody>
      </p:sp>
      <p:sp>
        <p:nvSpPr>
          <p:cNvPr id="20" name="AutoShape 20"/>
          <p:cNvSpPr/>
          <p:nvPr/>
        </p:nvSpPr>
        <p:spPr>
          <a:xfrm>
            <a:off x="762000" y="4572000"/>
            <a:ext cx="5270500" cy="1714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762500"/>
            <a:ext cx="304800" cy="304800"/>
          </a:xfrm>
          <a:prstGeom prst="rect">
            <a:avLst/>
          </a:prstGeom>
        </p:spPr>
      </p:pic>
      <p:sp>
        <p:nvSpPr>
          <p:cNvPr id="22" name="AutoShape 22"/>
          <p:cNvSpPr/>
          <p:nvPr/>
        </p:nvSpPr>
        <p:spPr>
          <a:xfrm>
            <a:off x="1333500" y="47371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专业简介与人才培养方案</a:t>
            </a:r>
            <a:endParaRPr lang="en-US" sz="1100"/>
          </a:p>
        </p:txBody>
      </p:sp>
      <p:cxnSp>
        <p:nvCxnSpPr>
          <p:cNvPr id="23" name="Connector 23"/>
          <p:cNvCxnSpPr/>
          <p:nvPr/>
        </p:nvCxnSpPr>
        <p:spPr>
          <a:xfrm rot="-9046">
            <a:off x="952508" y="5200650"/>
            <a:ext cx="482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4" name="AutoShape 24"/>
          <p:cNvSpPr/>
          <p:nvPr/>
        </p:nvSpPr>
        <p:spPr>
          <a:xfrm>
            <a:off x="952500" y="53086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策略：</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按“培养目标、课程体系、就业方向”等6大核心板块智能拆解。</a:t>
            </a:r>
            <a:b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价值：</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实现按功能板块的精准检索，帮助用户快速定位专业的核心特征与培养重点，大幅提升信息获取效率。</a:t>
            </a:r>
            <a:endParaRPr lang="en-US" sz="1100"/>
          </a:p>
        </p:txBody>
      </p:sp>
      <p:sp>
        <p:nvSpPr>
          <p:cNvPr id="25" name="AutoShape 25"/>
          <p:cNvSpPr/>
          <p:nvPr/>
        </p:nvSpPr>
        <p:spPr>
          <a:xfrm>
            <a:off x="6159500" y="4572000"/>
            <a:ext cx="5270500" cy="1714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50000" y="4762500"/>
            <a:ext cx="304800" cy="304800"/>
          </a:xfrm>
          <a:prstGeom prst="rect">
            <a:avLst/>
          </a:prstGeom>
        </p:spPr>
      </p:pic>
      <p:sp>
        <p:nvSpPr>
          <p:cNvPr id="27" name="AutoShape 27"/>
          <p:cNvSpPr/>
          <p:nvPr/>
        </p:nvSpPr>
        <p:spPr>
          <a:xfrm>
            <a:off x="6731000" y="47371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职业能力分析与体系图谱</a:t>
            </a:r>
            <a:endParaRPr lang="en-US" sz="1100"/>
          </a:p>
        </p:txBody>
      </p:sp>
      <p:cxnSp>
        <p:nvCxnSpPr>
          <p:cNvPr id="28" name="Connector 28"/>
          <p:cNvCxnSpPr/>
          <p:nvPr/>
        </p:nvCxnSpPr>
        <p:spPr>
          <a:xfrm rot="-9046">
            <a:off x="6350008" y="5200650"/>
            <a:ext cx="482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9" name="AutoShape 29"/>
          <p:cNvSpPr/>
          <p:nvPr/>
        </p:nvSpPr>
        <p:spPr>
          <a:xfrm>
            <a:off x="6350000" y="53086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策略：</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提取能力节点、层级关系与关联路径，构建可视化图谱。</a:t>
            </a:r>
            <a:b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价值：</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直观呈现职业能力的层级结构与内在逻辑，为职业教育课程设置、人才技能评价提供可视化的决策依据。</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检索架构：从“关键词匹配”到“意图驱动”</a:t>
            </a:r>
            <a:endParaRPr lang="en-US" sz="1100"/>
          </a:p>
        </p:txBody>
      </p:sp>
      <p:sp>
        <p:nvSpPr>
          <p:cNvPr id="4" name="AutoShape 4"/>
          <p:cNvSpPr/>
          <p:nvPr/>
        </p:nvSpPr>
        <p:spPr>
          <a:xfrm>
            <a:off x="762000" y="1524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我们的检索架构实现了从传统关键词搜索到意图驱动的多策略编排的飞跃（v2.0），通过三层智能路由精准理解需求，并行调度多源工具，构建可信证据链，全面提升检索的精准度与价值密度。</a:t>
            </a:r>
            <a:endParaRPr lang="en-US" sz="1100"/>
          </a:p>
        </p:txBody>
      </p:sp>
      <p:sp>
        <p:nvSpPr>
          <p:cNvPr id="5" name="AutoShape 5"/>
          <p:cNvSpPr/>
          <p:nvPr/>
        </p:nvSpPr>
        <p:spPr>
          <a:xfrm>
            <a:off x="762000" y="2413000"/>
            <a:ext cx="3429000" cy="20320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667000"/>
            <a:ext cx="355600" cy="355600"/>
          </a:xfrm>
          <a:prstGeom prst="rect">
            <a:avLst/>
          </a:prstGeom>
        </p:spPr>
      </p:pic>
      <p:sp>
        <p:nvSpPr>
          <p:cNvPr id="7" name="AutoShape 7"/>
          <p:cNvSpPr/>
          <p:nvPr/>
        </p:nvSpPr>
        <p:spPr>
          <a:xfrm>
            <a:off x="1473200" y="2667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01 意图理解与标签化</a:t>
            </a:r>
            <a:endParaRPr lang="en-US" sz="1100"/>
          </a:p>
        </p:txBody>
      </p:sp>
      <p:sp>
        <p:nvSpPr>
          <p:cNvPr id="8" name="AutoShape 8"/>
          <p:cNvSpPr/>
          <p:nvPr/>
        </p:nvSpPr>
        <p:spPr>
          <a:xfrm>
            <a:off x="1016000" y="3175000"/>
            <a:ext cx="292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精准识别用户查询意图（信息/结构/知识），智能抽取“地区、行业、维度”等关键标签，并通过路由守卫机制过滤无效请求，从源头锁定检索方向。</a:t>
            </a:r>
            <a:endParaRPr lang="en-US" sz="1100"/>
          </a:p>
        </p:txBody>
      </p:sp>
      <p:sp>
        <p:nvSpPr>
          <p:cNvPr id="9" name="AutoShape 9"/>
          <p:cNvSpPr/>
          <p:nvPr/>
        </p:nvSpPr>
        <p:spPr>
          <a:xfrm>
            <a:off x="4381500" y="2413000"/>
            <a:ext cx="3429000" cy="20320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667000"/>
            <a:ext cx="355600" cy="355600"/>
          </a:xfrm>
          <a:prstGeom prst="rect">
            <a:avLst/>
          </a:prstGeom>
        </p:spPr>
      </p:pic>
      <p:sp>
        <p:nvSpPr>
          <p:cNvPr id="11" name="AutoShape 11"/>
          <p:cNvSpPr/>
          <p:nvPr/>
        </p:nvSpPr>
        <p:spPr>
          <a:xfrm>
            <a:off x="5092700" y="2667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02 多策略并行分派</a:t>
            </a:r>
            <a:endParaRPr lang="en-US" sz="1100"/>
          </a:p>
        </p:txBody>
      </p:sp>
      <p:sp>
        <p:nvSpPr>
          <p:cNvPr id="12" name="AutoShape 12"/>
          <p:cNvSpPr/>
          <p:nvPr/>
        </p:nvSpPr>
        <p:spPr>
          <a:xfrm>
            <a:off x="4635500" y="3175000"/>
            <a:ext cx="292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基于意图并行调用多工具（最多4个）协同工作，同步调取岗位需求、能力图谱、专业布点等多维数据，打破单一检索局限，实现信息的立体采集。</a:t>
            </a:r>
            <a:endParaRPr lang="en-US" sz="1100"/>
          </a:p>
        </p:txBody>
      </p:sp>
      <p:sp>
        <p:nvSpPr>
          <p:cNvPr id="13" name="AutoShape 13"/>
          <p:cNvSpPr/>
          <p:nvPr/>
        </p:nvSpPr>
        <p:spPr>
          <a:xfrm>
            <a:off x="8001000" y="2413000"/>
            <a:ext cx="3429000" cy="20320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2667000"/>
            <a:ext cx="355600" cy="355600"/>
          </a:xfrm>
          <a:prstGeom prst="rect">
            <a:avLst/>
          </a:prstGeom>
        </p:spPr>
      </p:pic>
      <p:sp>
        <p:nvSpPr>
          <p:cNvPr id="15" name="AutoShape 15"/>
          <p:cNvSpPr/>
          <p:nvPr/>
        </p:nvSpPr>
        <p:spPr>
          <a:xfrm>
            <a:off x="8712200" y="2667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03 可信证据链汇总</a:t>
            </a:r>
            <a:endParaRPr lang="en-US" sz="1100"/>
          </a:p>
        </p:txBody>
      </p:sp>
      <p:sp>
        <p:nvSpPr>
          <p:cNvPr id="16" name="AutoShape 16"/>
          <p:cNvSpPr/>
          <p:nvPr/>
        </p:nvSpPr>
        <p:spPr>
          <a:xfrm>
            <a:off x="8255000" y="3175000"/>
            <a:ext cx="292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将多源结果按逻辑智能聚合，生成结构化、可阅读的最终答案。为每个结论标注精确的引用来源，构建可追溯的证据链，确保答案的权威与可信。</a:t>
            </a:r>
            <a:endParaRPr lang="en-US" sz="1100"/>
          </a:p>
        </p:txBody>
      </p:sp>
      <p:sp>
        <p:nvSpPr>
          <p:cNvPr id="17" name="AutoShape 17"/>
          <p:cNvSpPr/>
          <p:nvPr/>
        </p:nvSpPr>
        <p:spPr>
          <a:xfrm>
            <a:off x="762000" y="4826000"/>
            <a:ext cx="1066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 五大核心业务场景全覆盖 ——</a:t>
            </a:r>
            <a:endParaRPr lang="en-US" sz="1100"/>
          </a:p>
        </p:txBody>
      </p:sp>
      <p:sp>
        <p:nvSpPr>
          <p:cNvPr id="18" name="AutoShape 18"/>
          <p:cNvSpPr/>
          <p:nvPr/>
        </p:nvSpPr>
        <p:spPr>
          <a:xfrm>
            <a:off x="762000" y="5270500"/>
            <a:ext cx="1981200" cy="1143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25500" y="5397500"/>
            <a:ext cx="185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讯息查询</a:t>
            </a:r>
            <a:endParaRPr lang="en-US" sz="1100"/>
          </a:p>
          <a:p>
            <a:pPr marL="0" indent="0" algn="l">
              <a:lnSpc>
                <a:spcPct val="100000"/>
              </a:lnSpc>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政策新规、行业动态、市场趋势等时效性信息的快速获取与解读。</a:t>
            </a:r>
            <a:endPar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0" name="AutoShape 20"/>
          <p:cNvSpPr/>
          <p:nvPr/>
        </p:nvSpPr>
        <p:spPr>
          <a:xfrm>
            <a:off x="2870200" y="5270500"/>
            <a:ext cx="1981200" cy="1143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2933700" y="5397500"/>
            <a:ext cx="185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结构化查询</a:t>
            </a:r>
            <a:endParaRPr lang="en-US" sz="1100"/>
          </a:p>
          <a:p>
            <a:pPr marL="0" indent="0" algn="l">
              <a:lnSpc>
                <a:spcPct val="100000"/>
              </a:lnSpc>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针对区域分布、专业统计、数据排行等复杂结构数据的精准分析。</a:t>
            </a:r>
            <a:endPar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2" name="AutoShape 22"/>
          <p:cNvSpPr/>
          <p:nvPr/>
        </p:nvSpPr>
        <p:spPr>
          <a:xfrm>
            <a:off x="4978400" y="5270500"/>
            <a:ext cx="1981200" cy="1143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5041900" y="5397500"/>
            <a:ext cx="185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专业综合查询</a:t>
            </a:r>
            <a:endParaRPr lang="en-US" sz="1100"/>
          </a:p>
          <a:p>
            <a:pPr marL="0" indent="0" algn="l">
              <a:lnSpc>
                <a:spcPct val="100000"/>
              </a:lnSpc>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围绕专业培养目标、课程体系、就业前景等建设问题的深度问答。</a:t>
            </a:r>
            <a:endPar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4" name="AutoShape 24"/>
          <p:cNvSpPr/>
          <p:nvPr/>
        </p:nvSpPr>
        <p:spPr>
          <a:xfrm>
            <a:off x="7086600" y="5270500"/>
            <a:ext cx="1981200" cy="1143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7150100" y="5397500"/>
            <a:ext cx="185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教材知识查询</a:t>
            </a:r>
            <a:endParaRPr lang="en-US" sz="1100"/>
          </a:p>
          <a:p>
            <a:pPr marL="0" indent="0" algn="l">
              <a:lnSpc>
                <a:spcPct val="100000"/>
              </a:lnSpc>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针对教材中的理论概念、实操步骤、案例解析等进行精准检索。</a:t>
            </a:r>
            <a:endPar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6" name="AutoShape 26"/>
          <p:cNvSpPr/>
          <p:nvPr/>
        </p:nvSpPr>
        <p:spPr>
          <a:xfrm>
            <a:off x="9194800" y="5270500"/>
            <a:ext cx="1981200" cy="1143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9258300" y="5397500"/>
            <a:ext cx="185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智能兜底机制</a:t>
            </a:r>
            <a:endParaRPr lang="en-US" sz="1100"/>
          </a:p>
          <a:p>
            <a:pPr marL="0" indent="0" algn="l">
              <a:lnSpc>
                <a:spcPct val="100000"/>
              </a:lnSpc>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当意图检索无结果时，自动回退到全库向量搜索，保证总有答案。</a:t>
            </a:r>
            <a:endPar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跨资产检索的关键技术：六层标签匹配</a:t>
            </a:r>
            <a:endParaRPr lang="en-US" sz="1100"/>
          </a:p>
        </p:txBody>
      </p:sp>
      <p:sp>
        <p:nvSpPr>
          <p:cNvPr id="4" name="AutoShape 4"/>
          <p:cNvSpPr/>
          <p:nvPr/>
        </p:nvSpPr>
        <p:spPr>
          <a:xfrm>
            <a:off x="762000" y="1460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不同资产对同一事物的表述往往存在差异（如政策称“直播电商产业”，岗位表写“直播运营”）。为解决这一语义鸿沟，我们构建了</a:t>
            </a:r>
            <a:r>
              <a:rPr lang="en-US" sz="14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六层渐进匹配机制</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，从字面到语义层层递进，确保信息关联的准确性与召回率。</a:t>
            </a:r>
            <a:endParaRPr lang="en-US" sz="1100"/>
          </a:p>
        </p:txBody>
      </p:sp>
      <p:sp>
        <p:nvSpPr>
          <p:cNvPr id="5" name="AutoShape 5"/>
          <p:cNvSpPr/>
          <p:nvPr/>
        </p:nvSpPr>
        <p:spPr>
          <a:xfrm>
            <a:off x="762000" y="2413000"/>
            <a:ext cx="5207000" cy="1079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413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4765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L1 精确匹配</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基于标签字面的完全一致性校验，如“北京市”与“北京市”直接匹配，是最基础的精准关联方式。</a:t>
            </a:r>
            <a:endParaRPr lang="en-US" sz="1100"/>
          </a:p>
        </p:txBody>
      </p:sp>
      <p:sp>
        <p:nvSpPr>
          <p:cNvPr id="8" name="AutoShape 8"/>
          <p:cNvSpPr/>
          <p:nvPr/>
        </p:nvSpPr>
        <p:spPr>
          <a:xfrm>
            <a:off x="762000" y="3619500"/>
            <a:ext cx="5207000" cy="1079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36195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683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L1.5 规则归一</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自动清洗格式差异，处理后缀、括号、全角半角及简称转换，如“北京市(海淀)”归一为“北京海淀”。</a:t>
            </a:r>
            <a:endParaRPr lang="en-US" sz="1100"/>
          </a:p>
        </p:txBody>
      </p:sp>
      <p:sp>
        <p:nvSpPr>
          <p:cNvPr id="11" name="AutoShape 11"/>
          <p:cNvSpPr/>
          <p:nvPr/>
        </p:nvSpPr>
        <p:spPr>
          <a:xfrm>
            <a:off x="762000" y="4826000"/>
            <a:ext cx="5207000" cy="1079500"/>
          </a:xfrm>
          <a:prstGeom prst="roundRect">
            <a:avLst>
              <a:gd name="adj" fmla="val 0"/>
            </a:avLst>
          </a:prstGeom>
          <a:solidFill>
            <a:srgbClr val="FFFFFF">
              <a:alpha val="60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62000" y="4826000"/>
            <a:ext cx="762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16000" y="48895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F97316"/>
                </a:solidFill>
                <a:latin typeface="Noto Sans SC" panose="020B0500000000000000" charset="-122"/>
                <a:ea typeface="Noto Sans SC" panose="020B0500000000000000" charset="-122"/>
                <a:cs typeface="Noto Sans SC" panose="020B0500000000000000" charset="-122"/>
                <a:sym typeface="Noto Sans SC" panose="020B0500000000000000" charset="-122"/>
              </a:rPr>
              <a:t>L2 同义词匹配</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依托人工维护的行业别名表，实现近义词关联，如“直播带货”与“直播电商”、“网约车”与“网络预约出租汽车”的匹配。</a:t>
            </a:r>
            <a:endParaRPr lang="en-US" sz="1100"/>
          </a:p>
        </p:txBody>
      </p:sp>
      <p:sp>
        <p:nvSpPr>
          <p:cNvPr id="14" name="AutoShape 14"/>
          <p:cNvSpPr/>
          <p:nvPr/>
        </p:nvSpPr>
        <p:spPr>
          <a:xfrm>
            <a:off x="6223000" y="2413000"/>
            <a:ext cx="5207000" cy="1079500"/>
          </a:xfrm>
          <a:prstGeom prst="roundRect">
            <a:avLst>
              <a:gd name="adj" fmla="val 0"/>
            </a:avLst>
          </a:prstGeom>
          <a:solidFill>
            <a:srgbClr val="FFFFFF">
              <a:alpha val="60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2413000"/>
            <a:ext cx="762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24765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F97316"/>
                </a:solidFill>
                <a:latin typeface="Noto Sans SC" panose="020B0500000000000000" charset="-122"/>
                <a:ea typeface="Noto Sans SC" panose="020B0500000000000000" charset="-122"/>
                <a:cs typeface="Noto Sans SC" panose="020B0500000000000000" charset="-122"/>
                <a:sym typeface="Noto Sans SC" panose="020B0500000000000000" charset="-122"/>
              </a:rPr>
              <a:t>L3 标准编码关联</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基于统一的国标或行业编码体系（如行政区划代码、行业分类代码），实现不同表述下的唯一标识关联。</a:t>
            </a:r>
            <a:endParaRPr lang="en-US" sz="1100"/>
          </a:p>
        </p:txBody>
      </p:sp>
      <p:sp>
        <p:nvSpPr>
          <p:cNvPr id="17" name="AutoShape 17"/>
          <p:cNvSpPr/>
          <p:nvPr/>
        </p:nvSpPr>
        <p:spPr>
          <a:xfrm>
            <a:off x="6223000" y="3619500"/>
            <a:ext cx="5207000" cy="1079500"/>
          </a:xfrm>
          <a:prstGeom prst="roundRect">
            <a:avLst>
              <a:gd name="adj" fmla="val 0"/>
            </a:avLst>
          </a:prstGeom>
          <a:solidFill>
            <a:srgbClr val="FFFFFF">
              <a:alpha val="60000"/>
            </a:srgbClr>
          </a:solidFill>
          <a:ln w="12700" cap="flat" cmpd="sng">
            <a:solidFill>
              <a:srgbClr val="8B5CF6">
                <a:alpha val="2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223000" y="3619500"/>
            <a:ext cx="76200" cy="10795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477000" y="3683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8B5CF6"/>
                </a:solidFill>
                <a:latin typeface="Noto Sans SC" panose="020B0500000000000000" charset="-122"/>
                <a:ea typeface="Noto Sans SC" panose="020B0500000000000000" charset="-122"/>
                <a:cs typeface="Noto Sans SC" panose="020B0500000000000000" charset="-122"/>
                <a:sym typeface="Noto Sans SC" panose="020B0500000000000000" charset="-122"/>
              </a:rPr>
              <a:t>L4 语义向量匹配</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基于大模型Embedding将文本转化为向量，通过计算余弦相似度匹配语义相近内容，如“直播运营能力”与“电商主播技能”。</a:t>
            </a:r>
            <a:endParaRPr lang="en-US" sz="1100"/>
          </a:p>
        </p:txBody>
      </p:sp>
      <p:sp>
        <p:nvSpPr>
          <p:cNvPr id="20" name="AutoShape 20"/>
          <p:cNvSpPr/>
          <p:nvPr/>
        </p:nvSpPr>
        <p:spPr>
          <a:xfrm>
            <a:off x="6223000" y="4826000"/>
            <a:ext cx="5207000" cy="1079500"/>
          </a:xfrm>
          <a:prstGeom prst="roundRect">
            <a:avLst>
              <a:gd name="adj" fmla="val 0"/>
            </a:avLst>
          </a:prstGeom>
          <a:solidFill>
            <a:srgbClr val="FFFFFF">
              <a:alpha val="60000"/>
            </a:srgbClr>
          </a:solidFill>
          <a:ln w="12700" cap="flat" cmpd="sng">
            <a:solidFill>
              <a:srgbClr val="6B7280">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223000" y="4826000"/>
            <a:ext cx="76200" cy="1079500"/>
          </a:xfrm>
          <a:prstGeom prst="roundRect">
            <a:avLst>
              <a:gd name="adj" fmla="val 0"/>
            </a:avLst>
          </a:prstGeom>
          <a:solidFill>
            <a:srgbClr val="6B72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77000" y="48895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L5 全文兜底检索</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当以上层级均未命中时，触发全局全文向量检索，最大限度保证信息召回率，避免因标签缺失导致的检索盲区。</a:t>
            </a:r>
            <a:endParaRPr lang="en-US" sz="1100"/>
          </a:p>
        </p:txBody>
      </p:sp>
      <p:sp>
        <p:nvSpPr>
          <p:cNvPr id="23" name="AutoShape 23"/>
          <p:cNvSpPr/>
          <p:nvPr/>
        </p:nvSpPr>
        <p:spPr>
          <a:xfrm>
            <a:off x="762000" y="6032500"/>
            <a:ext cx="10668000" cy="508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89000" y="6096000"/>
            <a:ext cx="1041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核心保障：</a:t>
            </a:r>
            <a:r>
              <a:rPr lang="en-US" sz="1300" b="0" i="0" u="none" strike="noStrike">
                <a:solidFill>
                  <a:srgbClr val="166534"/>
                </a:solidFill>
                <a:latin typeface="Noto Sans SC" panose="020B0500000000000000" charset="-122"/>
                <a:ea typeface="Noto Sans SC" panose="020B0500000000000000" charset="-122"/>
                <a:cs typeface="Noto Sans SC" panose="020B0500000000000000" charset="-122"/>
                <a:sym typeface="Noto Sans SC" panose="020B0500000000000000" charset="-122"/>
              </a:rPr>
              <a:t>无人工标注字典时，L1（精确）+ L1.5（归一）+ L4（语义）三层机制即可保障系统基础可用性，体现方案的高健壮性与自适应性。</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293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255000" y="-1905000"/>
            <a:ext cx="5715000" cy="5715000"/>
          </a:xfrm>
          <a:prstGeom prst="ellipse">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524000" y="4064000"/>
            <a:ext cx="4826000" cy="4826000"/>
          </a:xfrm>
          <a:prstGeom prst="ellipse">
            <a:avLst/>
          </a:prstGeom>
          <a:solidFill>
            <a:srgbClr val="22C55E">
              <a:alpha val="6000"/>
            </a:srgbClr>
          </a:solidFill>
          <a:ln cap="flat" cmpd="sng">
            <a:solidFill>
              <a:srgbClr val="0CAC47">
                <a:alpha val="6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905000" y="1524000"/>
            <a:ext cx="101600" cy="101600"/>
          </a:xfrm>
          <a:prstGeom prst="ellipse">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414000" y="2540000"/>
            <a:ext cx="76200" cy="76200"/>
          </a:xfrm>
          <a:prstGeom prst="ellipse">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2540000" y="5080000"/>
            <a:ext cx="127000" cy="127000"/>
          </a:xfrm>
          <a:prstGeom prst="ellipse">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0" y="2032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PART 03</a:t>
            </a:r>
            <a:endParaRPr lang="en-US" sz="1100"/>
          </a:p>
        </p:txBody>
      </p:sp>
      <p:sp>
        <p:nvSpPr>
          <p:cNvPr id="8" name="AutoShape 8"/>
          <p:cNvSpPr/>
          <p:nvPr/>
        </p:nvSpPr>
        <p:spPr>
          <a:xfrm>
            <a:off x="0" y="2921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建设进展与未来规划</a:t>
            </a:r>
            <a:endParaRPr lang="en-US" sz="1100"/>
          </a:p>
        </p:txBody>
      </p:sp>
      <p:sp>
        <p:nvSpPr>
          <p:cNvPr id="9" name="AutoShape 9"/>
          <p:cNvSpPr/>
          <p:nvPr/>
        </p:nvSpPr>
        <p:spPr>
          <a:xfrm>
            <a:off x="5588000" y="4191000"/>
            <a:ext cx="1016000" cy="508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0" y="4635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已建成核心模块与后续迭代方向</a:t>
            </a:r>
            <a:endParaRPr lang="en-US" sz="1100"/>
          </a:p>
        </p:txBody>
      </p:sp>
      <p:sp>
        <p:nvSpPr>
          <p:cNvPr id="11" name="AutoShape 11"/>
          <p:cNvSpPr/>
          <p:nvPr/>
        </p:nvSpPr>
        <p:spPr>
          <a:xfrm>
            <a:off x="609600" y="5842000"/>
            <a:ext cx="177800" cy="177800"/>
          </a:xfrm>
          <a:prstGeom prst="roundRect">
            <a:avLst>
              <a:gd name="adj" fmla="val 0"/>
            </a:avLst>
          </a:prstGeom>
          <a:solidFill>
            <a:srgbClr val="22C55E">
              <a:alpha val="70000"/>
            </a:srgbClr>
          </a:solidFill>
          <a:ln cap="flat" cmpd="sng">
            <a:solidFill>
              <a:srgbClr val="0CAC47">
                <a:alpha val="7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939800" y="5842000"/>
            <a:ext cx="177800" cy="177800"/>
          </a:xfrm>
          <a:prstGeom prst="roundRect">
            <a:avLst>
              <a:gd name="adj" fmla="val 0"/>
            </a:avLst>
          </a:prstGeom>
          <a:solidFill>
            <a:srgbClr val="22C55E">
              <a:alpha val="30000"/>
            </a:srgbClr>
          </a:solidFill>
          <a:ln cap="flat" cmpd="sng">
            <a:solidFill>
              <a:srgbClr val="0CAC47">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11277600" y="5842000"/>
            <a:ext cx="177800" cy="177800"/>
          </a:xfrm>
          <a:prstGeom prst="roundRect">
            <a:avLst>
              <a:gd name="adj" fmla="val 0"/>
            </a:avLst>
          </a:prstGeom>
          <a:solidFill>
            <a:srgbClr val="22C55E">
              <a:alpha val="70000"/>
            </a:srgbClr>
          </a:solidFill>
          <a:ln cap="flat" cmpd="sng">
            <a:solidFill>
              <a:srgbClr val="0CAC47">
                <a:alpha val="7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10947400" y="5842000"/>
            <a:ext cx="177800" cy="177800"/>
          </a:xfrm>
          <a:prstGeom prst="roundRect">
            <a:avLst>
              <a:gd name="adj" fmla="val 0"/>
            </a:avLst>
          </a:prstGeom>
          <a:solidFill>
            <a:srgbClr val="22C55E">
              <a:alpha val="30000"/>
            </a:srgbClr>
          </a:solidFill>
          <a:ln cap="flat" cmpd="sng">
            <a:solidFill>
              <a:srgbClr val="0CAC47">
                <a:alpha val="30000"/>
              </a:srgbClr>
            </a:solidFill>
            <a:prstDash val="solid"/>
            <a:round/>
          </a:ln>
        </p:spPr>
        <p:txBody>
          <a:bodyPr vert="horz" wrap="square" lIns="63500" tIns="63500" rIns="63500" bIns="63500" rtlCol="0" anchor="ctr"/>
          <a:lstStyle/>
          <a:p>
            <a:pPr algn="ctr">
              <a:defRPr/>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已建成核心模块</a:t>
            </a:r>
            <a:endParaRPr lang="en-US" sz="1100"/>
          </a:p>
        </p:txBody>
      </p:sp>
      <p:sp>
        <p:nvSpPr>
          <p:cNvPr id="4" name="AutoShape 4"/>
          <p:cNvSpPr/>
          <p:nvPr/>
        </p:nvSpPr>
        <p:spPr>
          <a:xfrm>
            <a:off x="762000" y="1778000"/>
            <a:ext cx="3429000" cy="1968500"/>
          </a:xfrm>
          <a:prstGeom prst="roundRect">
            <a:avLst>
              <a:gd name="adj" fmla="val 0"/>
            </a:avLst>
          </a:prstGeom>
          <a:solidFill>
            <a:srgbClr val="FFFFFF">
              <a:alpha val="75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968500"/>
            <a:ext cx="304800" cy="304800"/>
          </a:xfrm>
          <a:prstGeom prst="rect">
            <a:avLst/>
          </a:prstGeom>
        </p:spPr>
      </p:pic>
      <p:sp>
        <p:nvSpPr>
          <p:cNvPr id="6" name="AutoShape 6"/>
          <p:cNvSpPr/>
          <p:nvPr/>
        </p:nvSpPr>
        <p:spPr>
          <a:xfrm>
            <a:off x="1333500" y="19685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知识加工</a:t>
            </a:r>
            <a:endParaRPr lang="en-US" sz="1100"/>
          </a:p>
        </p:txBody>
      </p:sp>
      <p:sp>
        <p:nvSpPr>
          <p:cNvPr id="7" name="AutoShape 7"/>
          <p:cNvSpPr/>
          <p:nvPr/>
        </p:nvSpPr>
        <p:spPr>
          <a:xfrm>
            <a:off x="952500" y="24384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集成4类加工模式与10道语义切块工序，建立全链路数据追溯体系，确保知识来源清晰可查。</a:t>
            </a:r>
            <a:endParaRPr lang="en-US" sz="1100"/>
          </a:p>
        </p:txBody>
      </p:sp>
      <p:sp>
        <p:nvSpPr>
          <p:cNvPr id="8" name="AutoShape 8"/>
          <p:cNvSpPr/>
          <p:nvPr/>
        </p:nvSpPr>
        <p:spPr>
          <a:xfrm>
            <a:off x="952500" y="3111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 价值：筑牢高质量知识底座，为智能应用提供可信、可溯源的数据支撑。</a:t>
            </a:r>
            <a:endParaRPr lang="en-US" sz="1100"/>
          </a:p>
        </p:txBody>
      </p:sp>
      <p:sp>
        <p:nvSpPr>
          <p:cNvPr id="9" name="AutoShape 9"/>
          <p:cNvSpPr/>
          <p:nvPr/>
        </p:nvSpPr>
        <p:spPr>
          <a:xfrm>
            <a:off x="4381500" y="1778000"/>
            <a:ext cx="3429000" cy="1968500"/>
          </a:xfrm>
          <a:prstGeom prst="roundRect">
            <a:avLst>
              <a:gd name="adj" fmla="val 0"/>
            </a:avLst>
          </a:prstGeom>
          <a:solidFill>
            <a:srgbClr val="FFFFFF">
              <a:alpha val="75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1968500"/>
            <a:ext cx="304800" cy="304800"/>
          </a:xfrm>
          <a:prstGeom prst="rect">
            <a:avLst/>
          </a:prstGeom>
        </p:spPr>
      </p:pic>
      <p:sp>
        <p:nvSpPr>
          <p:cNvPr id="11" name="AutoShape 11"/>
          <p:cNvSpPr/>
          <p:nvPr/>
        </p:nvSpPr>
        <p:spPr>
          <a:xfrm>
            <a:off x="4953000" y="19685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质量管理</a:t>
            </a:r>
            <a:endParaRPr lang="en-US" sz="1100"/>
          </a:p>
        </p:txBody>
      </p:sp>
      <p:sp>
        <p:nvSpPr>
          <p:cNvPr id="12" name="AutoShape 12"/>
          <p:cNvSpPr/>
          <p:nvPr/>
        </p:nvSpPr>
        <p:spPr>
          <a:xfrm>
            <a:off x="4572000" y="24384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自动生成7维Chunk质量报告，从准确性、完整性等维度量化评估，确保知识颗粒度达标。</a:t>
            </a:r>
            <a:endParaRPr lang="en-US" sz="1100"/>
          </a:p>
        </p:txBody>
      </p:sp>
      <p:sp>
        <p:nvSpPr>
          <p:cNvPr id="13" name="AutoShape 13"/>
          <p:cNvSpPr/>
          <p:nvPr/>
        </p:nvSpPr>
        <p:spPr>
          <a:xfrm>
            <a:off x="4572000" y="3111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 价值：实现知识质量的标准化监控与闭环优化，有效规避低质数据带来的业务风险。</a:t>
            </a:r>
            <a:endParaRPr lang="en-US" sz="1100"/>
          </a:p>
        </p:txBody>
      </p:sp>
      <p:sp>
        <p:nvSpPr>
          <p:cNvPr id="14" name="AutoShape 14"/>
          <p:cNvSpPr/>
          <p:nvPr/>
        </p:nvSpPr>
        <p:spPr>
          <a:xfrm>
            <a:off x="8001000" y="1778000"/>
            <a:ext cx="3429000" cy="1968500"/>
          </a:xfrm>
          <a:prstGeom prst="roundRect">
            <a:avLst>
              <a:gd name="adj" fmla="val 0"/>
            </a:avLst>
          </a:prstGeom>
          <a:solidFill>
            <a:srgbClr val="FFFFFF">
              <a:alpha val="75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1968500"/>
            <a:ext cx="304800" cy="304800"/>
          </a:xfrm>
          <a:prstGeom prst="rect">
            <a:avLst/>
          </a:prstGeom>
        </p:spPr>
      </p:pic>
      <p:sp>
        <p:nvSpPr>
          <p:cNvPr id="16" name="AutoShape 16"/>
          <p:cNvSpPr/>
          <p:nvPr/>
        </p:nvSpPr>
        <p:spPr>
          <a:xfrm>
            <a:off x="8572500" y="19685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智能检索</a:t>
            </a:r>
            <a:endParaRPr lang="en-US" sz="1100"/>
          </a:p>
        </p:txBody>
      </p:sp>
      <p:sp>
        <p:nvSpPr>
          <p:cNvPr id="17" name="AutoShape 17"/>
          <p:cNvSpPr/>
          <p:nvPr/>
        </p:nvSpPr>
        <p:spPr>
          <a:xfrm>
            <a:off x="8191500" y="24384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升级V2.0三层编排架构，精准覆盖5类核心业务场景，从海量知识中快速定位所需信息。</a:t>
            </a:r>
            <a:endParaRPr lang="en-US" sz="1100"/>
          </a:p>
        </p:txBody>
      </p:sp>
      <p:sp>
        <p:nvSpPr>
          <p:cNvPr id="18" name="AutoShape 18"/>
          <p:cNvSpPr/>
          <p:nvPr/>
        </p:nvSpPr>
        <p:spPr>
          <a:xfrm>
            <a:off x="8191500" y="3111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 价值：从“关键词匹配”升级为“意图驱动”，大幅提升检索的精准度与业务响应效率。</a:t>
            </a:r>
            <a:endParaRPr lang="en-US" sz="1100"/>
          </a:p>
        </p:txBody>
      </p:sp>
      <p:sp>
        <p:nvSpPr>
          <p:cNvPr id="19" name="AutoShape 19"/>
          <p:cNvSpPr/>
          <p:nvPr/>
        </p:nvSpPr>
        <p:spPr>
          <a:xfrm>
            <a:off x="762000" y="4127500"/>
            <a:ext cx="5207000" cy="1968500"/>
          </a:xfrm>
          <a:prstGeom prst="roundRect">
            <a:avLst>
              <a:gd name="adj" fmla="val 0"/>
            </a:avLst>
          </a:prstGeom>
          <a:solidFill>
            <a:srgbClr val="FFFFFF">
              <a:alpha val="75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318000"/>
            <a:ext cx="304800" cy="304800"/>
          </a:xfrm>
          <a:prstGeom prst="rect">
            <a:avLst/>
          </a:prstGeom>
        </p:spPr>
      </p:pic>
      <p:sp>
        <p:nvSpPr>
          <p:cNvPr id="21" name="AutoShape 21"/>
          <p:cNvSpPr/>
          <p:nvPr/>
        </p:nvSpPr>
        <p:spPr>
          <a:xfrm>
            <a:off x="1333500" y="4318000"/>
            <a:ext cx="4508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跨资产桥接</a:t>
            </a:r>
            <a:endParaRPr lang="en-US" sz="1100"/>
          </a:p>
        </p:txBody>
      </p:sp>
      <p:sp>
        <p:nvSpPr>
          <p:cNvPr id="22" name="AutoShape 22"/>
          <p:cNvSpPr/>
          <p:nvPr/>
        </p:nvSpPr>
        <p:spPr>
          <a:xfrm>
            <a:off x="952500" y="47879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构建六层标签匹配体系，通过能力标签强制语义匹配，打破不同来源、不同类型知识资产的壁垒。</a:t>
            </a:r>
            <a:endParaRPr lang="en-US" sz="1100"/>
          </a:p>
        </p:txBody>
      </p:sp>
      <p:sp>
        <p:nvSpPr>
          <p:cNvPr id="23" name="AutoShape 23"/>
          <p:cNvSpPr/>
          <p:nvPr/>
        </p:nvSpPr>
        <p:spPr>
          <a:xfrm>
            <a:off x="952500" y="546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 价值：彻底打破数据孤岛效应，实现跨领域、跨系统的知识关联查询与融合应用。</a:t>
            </a:r>
            <a:endParaRPr lang="en-US" sz="1100"/>
          </a:p>
        </p:txBody>
      </p:sp>
      <p:sp>
        <p:nvSpPr>
          <p:cNvPr id="24" name="AutoShape 24"/>
          <p:cNvSpPr/>
          <p:nvPr/>
        </p:nvSpPr>
        <p:spPr>
          <a:xfrm>
            <a:off x="6223000" y="4127500"/>
            <a:ext cx="5207000" cy="1968500"/>
          </a:xfrm>
          <a:prstGeom prst="roundRect">
            <a:avLst>
              <a:gd name="adj" fmla="val 0"/>
            </a:avLst>
          </a:prstGeom>
          <a:solidFill>
            <a:srgbClr val="FFFFFF">
              <a:alpha val="75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13500" y="4318000"/>
            <a:ext cx="304800" cy="304800"/>
          </a:xfrm>
          <a:prstGeom prst="rect">
            <a:avLst/>
          </a:prstGeom>
        </p:spPr>
      </p:pic>
      <p:sp>
        <p:nvSpPr>
          <p:cNvPr id="26" name="AutoShape 26"/>
          <p:cNvSpPr/>
          <p:nvPr/>
        </p:nvSpPr>
        <p:spPr>
          <a:xfrm>
            <a:off x="6794500" y="4318000"/>
            <a:ext cx="4508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回答质量</a:t>
            </a:r>
            <a:endParaRPr lang="en-US" sz="1100"/>
          </a:p>
        </p:txBody>
      </p:sp>
      <p:sp>
        <p:nvSpPr>
          <p:cNvPr id="27" name="AutoShape 27"/>
          <p:cNvSpPr/>
          <p:nvPr/>
        </p:nvSpPr>
        <p:spPr>
          <a:xfrm>
            <a:off x="6413500" y="47879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基于章节扩展理解，支持8种题型自适应生成，并通过弱证据智能过滤机制优化输出内容。</a:t>
            </a:r>
            <a:endParaRPr lang="en-US" sz="1100"/>
          </a:p>
        </p:txBody>
      </p:sp>
      <p:sp>
        <p:nvSpPr>
          <p:cNvPr id="28" name="AutoShape 28"/>
          <p:cNvSpPr/>
          <p:nvPr/>
        </p:nvSpPr>
        <p:spPr>
          <a:xfrm>
            <a:off x="6413500" y="546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 价值：保障回答内容的准确性、逻辑完整性与实用性，显著提升用户交互体验与满意度。</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后续规划</a:t>
            </a:r>
            <a:endParaRPr lang="en-US" sz="1100"/>
          </a:p>
        </p:txBody>
      </p:sp>
      <p:sp>
        <p:nvSpPr>
          <p:cNvPr id="4" name="AutoShape 4"/>
          <p:cNvSpPr/>
          <p:nvPr/>
        </p:nvSpPr>
        <p:spPr>
          <a:xfrm>
            <a:off x="762000" y="2032000"/>
            <a:ext cx="5207000" cy="3302000"/>
          </a:xfrm>
          <a:prstGeom prst="roundRect">
            <a:avLst>
              <a:gd name="adj" fmla="val 0"/>
            </a:avLst>
          </a:prstGeom>
          <a:solidFill>
            <a:srgbClr val="FFFFFF">
              <a:alpha val="75000"/>
            </a:srgbClr>
          </a:solidFill>
          <a:ln w="12700" cap="flat" cmpd="sng">
            <a:solidFill>
              <a:srgbClr val="F97316">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286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500000000000000" charset="-122"/>
                <a:ea typeface="Noto Sans SC" panose="020B0500000000000000" charset="-122"/>
                <a:cs typeface="Noto Sans SC" panose="020B0500000000000000" charset="-122"/>
                <a:sym typeface="Noto Sans SC" panose="020B0500000000000000" charset="-122"/>
              </a:rPr>
              <a:t>01 / P0 收尾与基础夯实</a:t>
            </a:r>
            <a:endParaRPr lang="en-US" sz="1100"/>
          </a:p>
        </p:txBody>
      </p:sp>
      <p:cxnSp>
        <p:nvCxnSpPr>
          <p:cNvPr id="6" name="Connector 6"/>
          <p:cNvCxnSpPr/>
          <p:nvPr/>
        </p:nvCxnSpPr>
        <p:spPr>
          <a:xfrm rot="-9291">
            <a:off x="1016009" y="2851150"/>
            <a:ext cx="4699000" cy="12700"/>
          </a:xfrm>
          <a:prstGeom prst="straightConnector1">
            <a:avLst/>
          </a:prstGeom>
          <a:solidFill>
            <a:srgbClr val="DEE0E3">
              <a:alpha val="100000"/>
            </a:srgbClr>
          </a:solidFill>
          <a:ln w="12700" cap="flat" cmpd="sng">
            <a:solidFill>
              <a:srgbClr val="F97316">
                <a:alpha val="15000"/>
              </a:srgbClr>
            </a:solidFill>
            <a:prstDash val="solid"/>
            <a:round/>
            <a:headEnd type="none" w="med" len="med"/>
            <a:tailEnd type="none" w="med" len="med"/>
          </a:ln>
        </p:spPr>
      </p:cxnSp>
      <p:sp>
        <p:nvSpPr>
          <p:cNvPr id="7" name="AutoShape 7"/>
          <p:cNvSpPr/>
          <p:nvPr/>
        </p:nvSpPr>
        <p:spPr>
          <a:xfrm>
            <a:off x="1016000" y="3048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 超大知识单元强制拆分</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解决大文档检索匹配模糊问题，优化内容颗粒度，从源头提升召回精准度与检索效率。</a:t>
            </a:r>
            <a:endParaRPr lang="en-US" sz="1100"/>
          </a:p>
        </p:txBody>
      </p:sp>
      <p:sp>
        <p:nvSpPr>
          <p:cNvPr id="8" name="AutoShape 8"/>
          <p:cNvSpPr/>
          <p:nvPr/>
        </p:nvSpPr>
        <p:spPr>
          <a:xfrm>
            <a:off x="1016000" y="38735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 无大纲文档智能章节派生</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利用NLP模型自动识别文档逻辑，为非结构化文本生成结构化层级，增强内容的可理解性。</a:t>
            </a:r>
            <a:endParaRPr lang="en-US" sz="1100"/>
          </a:p>
        </p:txBody>
      </p:sp>
      <p:sp>
        <p:nvSpPr>
          <p:cNvPr id="9" name="AutoShape 9"/>
          <p:cNvSpPr/>
          <p:nvPr/>
        </p:nvSpPr>
        <p:spPr>
          <a:xfrm>
            <a:off x="1016000" y="4699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 自动化评测体系落地</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建成Golden Query标准评估集，实现检索效果的自动化回归验证，保障系统稳定性。</a:t>
            </a:r>
            <a:endParaRPr lang="en-US" sz="1100"/>
          </a:p>
        </p:txBody>
      </p:sp>
      <p:sp>
        <p:nvSpPr>
          <p:cNvPr id="10" name="AutoShape 10"/>
          <p:cNvSpPr/>
          <p:nvPr/>
        </p:nvSpPr>
        <p:spPr>
          <a:xfrm>
            <a:off x="6223000" y="2032000"/>
            <a:ext cx="5207000" cy="3302000"/>
          </a:xfrm>
          <a:prstGeom prst="roundRect">
            <a:avLst>
              <a:gd name="adj" fmla="val 0"/>
            </a:avLst>
          </a:prstGeom>
          <a:solidFill>
            <a:srgbClr val="FFFFFF">
              <a:alpha val="7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477000" y="2286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02 / P1 迭代与体验升级</a:t>
            </a:r>
            <a:endParaRPr lang="en-US" sz="1100"/>
          </a:p>
        </p:txBody>
      </p:sp>
      <p:cxnSp>
        <p:nvCxnSpPr>
          <p:cNvPr id="12" name="Connector 12"/>
          <p:cNvCxnSpPr/>
          <p:nvPr/>
        </p:nvCxnSpPr>
        <p:spPr>
          <a:xfrm rot="-9291">
            <a:off x="6477009" y="2851150"/>
            <a:ext cx="4699000" cy="12700"/>
          </a:xfrm>
          <a:prstGeom prst="straightConnector1">
            <a:avLst/>
          </a:prstGeom>
          <a:solidFill>
            <a:srgbClr val="DEE0E3">
              <a:alpha val="100000"/>
            </a:srgbClr>
          </a:solidFill>
          <a:ln w="12700" cap="flat" cmpd="sng">
            <a:solidFill>
              <a:srgbClr val="22C55E">
                <a:alpha val="15000"/>
              </a:srgbClr>
            </a:solidFill>
            <a:prstDash val="solid"/>
            <a:round/>
            <a:headEnd type="none" w="med" len="med"/>
            <a:tailEnd type="none" w="med" len="med"/>
          </a:ln>
        </p:spPr>
      </p:cxnSp>
      <p:sp>
        <p:nvSpPr>
          <p:cNvPr id="13" name="AutoShape 13"/>
          <p:cNvSpPr/>
          <p:nvPr/>
        </p:nvSpPr>
        <p:spPr>
          <a:xfrm>
            <a:off x="6477000" y="3048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 关键词+语义混合检索升级</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融合BM25精准匹配与向量语义理解的优势，构建多维度检索模型。既保证对核心信息的精准命中，又能捕捉用户查询的深层意图，解决单一检索的局限性，实现“精准度”与“召回率”的双重提升。</a:t>
            </a:r>
            <a:endParaRPr lang="en-US" sz="1100"/>
          </a:p>
        </p:txBody>
      </p:sp>
      <p:sp>
        <p:nvSpPr>
          <p:cNvPr id="14" name="AutoShape 14"/>
          <p:cNvSpPr/>
          <p:nvPr/>
        </p:nvSpPr>
        <p:spPr>
          <a:xfrm>
            <a:off x="6477000" y="4318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 效果量化与持续调优</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基于评估集数据与真实用户反馈，建立可量化的效果指标体系。通过A/B测试与模型参数迭代，对排序策略和召回逻辑进行持续优化，实现系统检索能力的稳步迭代与用户体验的不断升级。</a:t>
            </a:r>
            <a:endParaRPr lang="en-US" sz="1100"/>
          </a:p>
        </p:txBody>
      </p:sp>
      <p:sp>
        <p:nvSpPr>
          <p:cNvPr id="15" name="AutoShape 15"/>
          <p:cNvSpPr/>
          <p:nvPr/>
        </p:nvSpPr>
        <p:spPr>
          <a:xfrm>
            <a:off x="762000" y="5651500"/>
            <a:ext cx="10668000" cy="6096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89000" y="5753100"/>
            <a:ext cx="1041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规划愿景：</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以技术迭代为核心驱动力，持续打造更精准、更智能的检索系统，为业务决策与知识获取提供强有力的信息支撑。</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F293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636000" y="-1778000"/>
            <a:ext cx="4826000" cy="4826000"/>
          </a:xfrm>
          <a:prstGeom prst="ellipse">
            <a:avLst/>
          </a:prstGeom>
          <a:solidFill>
            <a:srgbClr val="22C55E">
              <a:alpha val="9000"/>
            </a:srgbClr>
          </a:solidFill>
          <a:ln cap="flat" cmpd="sng">
            <a:solidFill>
              <a:srgbClr val="0CAC47">
                <a:alpha val="9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397000" y="4191000"/>
            <a:ext cx="4064000" cy="4064000"/>
          </a:xfrm>
          <a:prstGeom prst="ellipse">
            <a:avLst/>
          </a:prstGeom>
          <a:solidFill>
            <a:srgbClr val="22C55E">
              <a:alpha val="7000"/>
            </a:srgbClr>
          </a:solidFill>
          <a:ln cap="flat" cmpd="sng">
            <a:solidFill>
              <a:srgbClr val="0CAC47">
                <a:alpha val="7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159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PART 04</a:t>
            </a:r>
            <a:endParaRPr lang="en-US" sz="1100"/>
          </a:p>
        </p:txBody>
      </p:sp>
      <p:sp>
        <p:nvSpPr>
          <p:cNvPr id="5" name="AutoShape 5"/>
          <p:cNvSpPr/>
          <p:nvPr/>
        </p:nvSpPr>
        <p:spPr>
          <a:xfrm>
            <a:off x="0" y="3048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总结与展望</a:t>
            </a:r>
            <a:endParaRPr lang="en-US" sz="1100"/>
          </a:p>
        </p:txBody>
      </p:sp>
      <p:sp>
        <p:nvSpPr>
          <p:cNvPr id="6" name="AutoShape 6"/>
          <p:cNvSpPr/>
          <p:nvPr/>
        </p:nvSpPr>
        <p:spPr>
          <a:xfrm>
            <a:off x="5588000" y="4381500"/>
            <a:ext cx="1016000" cy="508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0" y="4889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核心交付与未来价值展望</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核心交付与关键设计理念</a:t>
            </a:r>
            <a:endParaRPr lang="en-US" sz="1100"/>
          </a:p>
        </p:txBody>
      </p:sp>
      <p:sp>
        <p:nvSpPr>
          <p:cNvPr id="4" name="AutoShape 4"/>
          <p:cNvSpPr/>
          <p:nvPr/>
        </p:nvSpPr>
        <p:spPr>
          <a:xfrm>
            <a:off x="762000" y="1524000"/>
            <a:ext cx="10668000" cy="8890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我们成功建成了一套</a:t>
            </a:r>
            <a:r>
              <a:rPr lang="en-US" sz="15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从数据加工源头到检索最终回答的完整质量保障体系</a:t>
            </a:r>
            <a:r>
              <a:rPr lang="en-US" sz="15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，覆盖了9类异构资产的全链路，为精准、高效的知识检索筑牢了坚实基础。</a:t>
            </a:r>
            <a:endParaRPr lang="en-US" sz="1100"/>
          </a:p>
        </p:txBody>
      </p:sp>
      <p:sp>
        <p:nvSpPr>
          <p:cNvPr id="6" name="AutoShape 6"/>
          <p:cNvSpPr/>
          <p:nvPr/>
        </p:nvSpPr>
        <p:spPr>
          <a:xfrm>
            <a:off x="762000" y="2794000"/>
            <a:ext cx="3378200" cy="2159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048000"/>
            <a:ext cx="355600" cy="355600"/>
          </a:xfrm>
          <a:prstGeom prst="rect">
            <a:avLst/>
          </a:prstGeom>
        </p:spPr>
      </p:pic>
      <p:sp>
        <p:nvSpPr>
          <p:cNvPr id="8" name="AutoShape 8"/>
          <p:cNvSpPr/>
          <p:nvPr/>
        </p:nvSpPr>
        <p:spPr>
          <a:xfrm>
            <a:off x="1460500" y="304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加工质量决定上限</a:t>
            </a:r>
            <a:endParaRPr lang="en-US" sz="1100"/>
          </a:p>
        </p:txBody>
      </p:sp>
      <p:sp>
        <p:nvSpPr>
          <p:cNvPr id="9" name="AutoShape 9"/>
          <p:cNvSpPr/>
          <p:nvPr/>
        </p:nvSpPr>
        <p:spPr>
          <a:xfrm>
            <a:off x="1016000" y="36195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投入核心资源打磨知识加工环节，坚信“高质量输入是高质量输出的前提”。从源头严格把控数据的准确性与规范性，为后续的精准检索和智能问答奠定不可动摇的基石。</a:t>
            </a:r>
            <a:endParaRPr lang="en-US" sz="1100"/>
          </a:p>
        </p:txBody>
      </p:sp>
      <p:sp>
        <p:nvSpPr>
          <p:cNvPr id="10" name="AutoShape 10"/>
          <p:cNvSpPr/>
          <p:nvPr/>
        </p:nvSpPr>
        <p:spPr>
          <a:xfrm>
            <a:off x="4394200" y="2794000"/>
            <a:ext cx="3378200" cy="2159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3048000"/>
            <a:ext cx="355600" cy="355600"/>
          </a:xfrm>
          <a:prstGeom prst="rect">
            <a:avLst/>
          </a:prstGeom>
        </p:spPr>
      </p:pic>
      <p:sp>
        <p:nvSpPr>
          <p:cNvPr id="12" name="AutoShape 12"/>
          <p:cNvSpPr/>
          <p:nvPr/>
        </p:nvSpPr>
        <p:spPr>
          <a:xfrm>
            <a:off x="5092700" y="304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兼容非完美数据</a:t>
            </a:r>
            <a:endParaRPr lang="en-US" sz="1100"/>
          </a:p>
        </p:txBody>
      </p:sp>
      <p:sp>
        <p:nvSpPr>
          <p:cNvPr id="13" name="AutoShape 13"/>
          <p:cNvSpPr/>
          <p:nvPr/>
        </p:nvSpPr>
        <p:spPr>
          <a:xfrm>
            <a:off x="4648200" y="36195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充分适配现实世界数据的复杂性、异构性与不完美性。系统设计具备极高的健壮性，无需依赖理想化的纯净数据环境，可从容应对多源、多格式的真实业务数据。</a:t>
            </a:r>
            <a:endParaRPr lang="en-US" sz="1100"/>
          </a:p>
        </p:txBody>
      </p:sp>
      <p:sp>
        <p:nvSpPr>
          <p:cNvPr id="14" name="AutoShape 14"/>
          <p:cNvSpPr/>
          <p:nvPr/>
        </p:nvSpPr>
        <p:spPr>
          <a:xfrm>
            <a:off x="8026400" y="2794000"/>
            <a:ext cx="3378200" cy="2159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3048000"/>
            <a:ext cx="355600" cy="355600"/>
          </a:xfrm>
          <a:prstGeom prst="rect">
            <a:avLst/>
          </a:prstGeom>
        </p:spPr>
      </p:pic>
      <p:sp>
        <p:nvSpPr>
          <p:cNvPr id="16" name="AutoShape 16"/>
          <p:cNvSpPr/>
          <p:nvPr/>
        </p:nvSpPr>
        <p:spPr>
          <a:xfrm>
            <a:off x="8724900" y="304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全链路可观测回退</a:t>
            </a:r>
            <a:endParaRPr lang="en-US" sz="1100"/>
          </a:p>
        </p:txBody>
      </p:sp>
      <p:sp>
        <p:nvSpPr>
          <p:cNvPr id="17" name="AutoShape 17"/>
          <p:cNvSpPr/>
          <p:nvPr/>
        </p:nvSpPr>
        <p:spPr>
          <a:xfrm>
            <a:off x="8280400" y="36195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系统各层级优化均配备独立开关与量化评估指标，实现全流程可监控、可追溯。一旦出现异常或效果不达预期，支持毫秒级快速回退，最大限度保障业务的稳定性。</a:t>
            </a:r>
            <a:endParaRPr lang="en-US" sz="1100"/>
          </a:p>
        </p:txBody>
      </p:sp>
      <p:sp>
        <p:nvSpPr>
          <p:cNvPr id="18" name="AutoShape 18"/>
          <p:cNvSpPr/>
          <p:nvPr/>
        </p:nvSpPr>
        <p:spPr>
          <a:xfrm>
            <a:off x="762000" y="5207000"/>
            <a:ext cx="10668000" cy="11430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53594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未来展望：</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NEXUS体系不仅解决了当前的信息获取痛点，更构建了企业级知识图谱的坚实底座。它将持续赋能智能客服、智能决策辅助等AI应用，成为驱动公司业务创新、降本增效与持续增长的强大引擎，助力实现更高效的数字化知识管理与价值挖掘。</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谢谢大家</a:t>
            </a:r>
            <a:endParaRPr lang="en-US" sz="1100"/>
          </a:p>
        </p:txBody>
      </p:sp>
      <p:sp>
        <p:nvSpPr>
          <p:cNvPr id="4" name="AutoShape 4"/>
          <p:cNvSpPr/>
          <p:nvPr/>
        </p:nvSpPr>
        <p:spPr>
          <a:xfrm>
            <a:off x="0" y="3937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400" b="1" i="0" u="none" strike="noStrike">
                <a:solidFill>
                  <a:srgbClr val="22C55E"/>
                </a:solidFill>
                <a:latin typeface="Noto Sans SC" panose="020B0500000000000000" charset="-122"/>
                <a:ea typeface="Noto Sans SC" panose="020B0500000000000000" charset="-122"/>
                <a:cs typeface="Noto Sans SC" panose="020B0500000000000000" charset="-122"/>
                <a:sym typeface="Noto Sans SC" panose="020B0500000000000000" charset="-122"/>
              </a:rPr>
              <a:t>Q &amp; A</a:t>
            </a:r>
            <a:endParaRPr lang="en-US" sz="1100"/>
          </a:p>
        </p:txBody>
      </p:sp>
      <p:sp>
        <p:nvSpPr>
          <p:cNvPr id="5" name="AutoShape 5"/>
          <p:cNvSpPr/>
          <p:nvPr/>
        </p:nvSpPr>
        <p:spPr>
          <a:xfrm>
            <a:off x="0" y="5524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300">
                <a:solidFill>
                  <a:srgbClr val="D1D5DB">
                    <a:alpha val="7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欢迎各位提出问题与建议，共同探讨更多可能性</a:t>
            </a:r>
            <a:endParaRPr lang="en-US" sz="1100"/>
          </a:p>
        </p:txBody>
      </p:sp>
      <p:pic>
        <p:nvPicPr>
          <p:cNvPr id="6" name="Picture 6"/>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20,&quot;left&quot;:60,&quot;top&quot;:150,&quot;width&quot;:840}"/>
</p:tagLst>
</file>

<file path=ppt/tags/tag2.xml><?xml version="1.0" encoding="utf-8"?>
<p:tagLst xmlns:p="http://schemas.openxmlformats.org/presentationml/2006/main">
  <p:tag name="KSO_WM_DIAGRAM_VIRTUALLY_FRAME" val="{&quot;height&quot;:320,&quot;left&quot;:60,&quot;top&quot;:150,&quot;width&quot;:840}"/>
</p:tagLst>
</file>

<file path=ppt/tags/tag3.xml><?xml version="1.0" encoding="utf-8"?>
<p:tagLst xmlns:p="http://schemas.openxmlformats.org/presentationml/2006/main">
  <p:tag name="KSO_WM_DIAGRAM_VIRTUALLY_FRAME" val="{&quot;height&quot;:320,&quot;left&quot;:60,&quot;top&quot;:150,&quot;width&quot;:840}"/>
</p:tagLst>
</file>

<file path=ppt/tags/tag4.xml><?xml version="1.0" encoding="utf-8"?>
<p:tagLst xmlns:p="http://schemas.openxmlformats.org/presentationml/2006/main">
  <p:tag name="KSO_WM_DIAGRAM_VIRTUALLY_FRAME" val="{&quot;height&quot;:320,&quot;left&quot;:60,&quot;top&quot;:150,&quot;width&quot;:840}"/>
</p:tagLst>
</file>

<file path=ppt/tags/tag5.xml><?xml version="1.0" encoding="utf-8"?>
<p:tagLst xmlns:p="http://schemas.openxmlformats.org/presentationml/2006/main">
  <p:tag name="KSO_WM_DIAGRAM_VIRTUALLY_FRAME" val="{&quot;height&quot;:320,&quot;left&quot;:60,&quot;top&quot;:150,&quot;width&quot;:840}"/>
</p:tagLst>
</file>

<file path=ppt/tags/tag6.xml><?xml version="1.0" encoding="utf-8"?>
<p:tagLst xmlns:p="http://schemas.openxmlformats.org/presentationml/2006/main">
  <p:tag name="KSO_WM_DIAGRAM_VIRTUALLY_FRAME" val="{&quot;height&quot;:320,&quot;left&quot;:60,&quot;top&quot;:150,&quot;width&quot;:840}"/>
</p:tagLst>
</file>

<file path=ppt/tags/tag7.xml><?xml version="1.0" encoding="utf-8"?>
<p:tagLst xmlns:p="http://schemas.openxmlformats.org/presentationml/2006/main">
  <p:tag name="KSO_WM_DIAGRAM_VIRTUALLY_FRAME" val="{&quot;height&quot;:320,&quot;left&quot;:60,&quot;top&quot;:150,&quot;width&quot;:840}"/>
</p:tagLst>
</file>

<file path=ppt/tags/tag8.xml><?xml version="1.0" encoding="utf-8"?>
<p:tagLst xmlns:p="http://schemas.openxmlformats.org/presentationml/2006/main">
  <p:tag name="KSO_WM_DIAGRAM_VIRTUALLY_FRAME" val="{&quot;height&quot;:320,&quot;left&quot;:60,&quot;top&quot;:150,&quot;width&quot;:840}"/>
</p:tagLst>
</file>

<file path=ppt/tags/tag9.xml><?xml version="1.0" encoding="utf-8"?>
<p:tagLst xmlns:p="http://schemas.openxmlformats.org/presentationml/2006/main">
  <p:tag name="KSO_WM_DIAGRAM_VIRTUALLY_FRAME" val="{&quot;height&quot;:320,&quot;left&quot;:60,&quot;top&quot;:150,&quot;width&quot;:840}"/>
</p:tagLst>
</file>

<file path=ppt/tags/tag10.xml><?xml version="1.0" encoding="utf-8"?>
<p:tagLst xmlns:p="http://schemas.openxmlformats.org/presentationml/2006/main">
  <p:tag name="KSO_WM_DIAGRAM_VIRTUALLY_FRAME" val="{&quot;height&quot;:320,&quot;left&quot;:60,&quot;top&quot;:150,&quot;width&quot;:840}"/>
</p:tagLst>
</file>

<file path=ppt/tags/tag11.xml><?xml version="1.0" encoding="utf-8"?>
<p:tagLst xmlns:p="http://schemas.openxmlformats.org/presentationml/2006/main">
  <p:tag name="KSO_WM_DIAGRAM_VIRTUALLY_FRAME" val="{&quot;height&quot;:320,&quot;left&quot;:60,&quot;top&quot;:150,&quot;width&quot;:840}"/>
</p:tagLst>
</file>

<file path=ppt/tags/tag12.xml><?xml version="1.0" encoding="utf-8"?>
<p:tagLst xmlns:p="http://schemas.openxmlformats.org/presentationml/2006/main">
  <p:tag name="KSO_WM_DIAGRAM_VIRTUALLY_FRAME" val="{&quot;height&quot;:320,&quot;left&quot;:60,&quot;top&quot;:150,&quot;width&quot;:840}"/>
</p:tagLst>
</file>

<file path=ppt/tags/tag13.xml><?xml version="1.0" encoding="utf-8"?>
<p:tagLst xmlns:p="http://schemas.openxmlformats.org/presentationml/2006/main">
  <p:tag name="KSO_WM_DIAGRAM_VIRTUALLY_FRAME" val="{&quot;height&quot;:320,&quot;left&quot;:60,&quot;top&quot;:150,&quot;width&quot;:840}"/>
</p:tagLst>
</file>

<file path=ppt/tags/tag14.xml><?xml version="1.0" encoding="utf-8"?>
<p:tagLst xmlns:p="http://schemas.openxmlformats.org/presentationml/2006/main">
  <p:tag name="KSO_WM_DIAGRAM_VIRTUALLY_FRAME" val="{&quot;height&quot;:320,&quot;left&quot;:60,&quot;top&quot;:150,&quot;width&quot;:840}"/>
</p:tagLst>
</file>

<file path=ppt/tags/tag15.xml><?xml version="1.0" encoding="utf-8"?>
<p:tagLst xmlns:p="http://schemas.openxmlformats.org/presentationml/2006/main">
  <p:tag name="KSO_WM_DIAGRAM_VIRTUALLY_FRAME" val="{&quot;height&quot;:320,&quot;left&quot;:60,&quot;top&quot;:150,&quot;width&quot;:840}"/>
</p:tagLst>
</file>

<file path=ppt/tags/tag16.xml><?xml version="1.0" encoding="utf-8"?>
<p:tagLst xmlns:p="http://schemas.openxmlformats.org/presentationml/2006/main">
  <p:tag name="KSO_WM_DIAGRAM_VIRTUALLY_FRAME" val="{&quot;height&quot;:320,&quot;left&quot;:60,&quot;top&quot;:150,&quot;width&quot;:840}"/>
</p:tagLst>
</file>

<file path=ppt/tags/tag17.xml><?xml version="1.0" encoding="utf-8"?>
<p:tagLst xmlns:p="http://schemas.openxmlformats.org/presentationml/2006/main">
  <p:tag name="KSO_WM_DIAGRAM_VIRTUALLY_FRAME" val="{&quot;height&quot;:320,&quot;left&quot;:60,&quot;top&quot;:150,&quot;width&quot;:840}"/>
</p:tagLst>
</file>

<file path=ppt/tags/tag18.xml><?xml version="1.0" encoding="utf-8"?>
<p:tagLst xmlns:p="http://schemas.openxmlformats.org/presentationml/2006/main">
  <p:tag name="KSO_WM_DIAGRAM_VIRTUALLY_FRAME" val="{&quot;height&quot;:320,&quot;left&quot;:60,&quot;top&quot;:150,&quot;width&quot;:840}"/>
</p:tagLst>
</file>

<file path=ppt/tags/tag19.xml><?xml version="1.0" encoding="utf-8"?>
<p:tagLst xmlns:p="http://schemas.openxmlformats.org/presentationml/2006/main">
  <p:tag name="KSO_WM_DIAGRAM_VIRTUALLY_FRAME" val="{&quot;height&quot;:320,&quot;left&quot;:60,&quot;top&quot;:150,&quot;width&quot;:840}"/>
</p:tagLst>
</file>

<file path=ppt/tags/tag20.xml><?xml version="1.0" encoding="utf-8"?>
<p:tagLst xmlns:p="http://schemas.openxmlformats.org/presentationml/2006/main">
  <p:tag name="KSO_WM_DIAGRAM_VIRTUALLY_FRAME" val="{&quot;height&quot;:320,&quot;left&quot;:60,&quot;top&quot;:15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5369</Words>
  <Application>WPS 演示</Application>
  <PresentationFormat/>
  <Paragraphs>336</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18</vt:i4>
      </vt:variant>
    </vt:vector>
  </HeadingPairs>
  <TitlesOfParts>
    <vt:vector size="27"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刘叠叠</cp:lastModifiedBy>
  <cp:revision>3</cp:revision>
  <dcterms:created xsi:type="dcterms:W3CDTF">2026-08-26T14:07:56Z</dcterms:created>
  <dcterms:modified xsi:type="dcterms:W3CDTF">2026-08-26T14:20:37Z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{"Label":"1","ContentProducer":"001191110102MACQD9K64010000","ProduceID":"7677416980173523947","ReservedCode1":"","ContentPropagator":"","PropagateID":"","ReservedCode2":""}</vt:lpwstr>
  </property>
  <property fmtid="{D5CDD505-2E9C-101B-9397-08002B2CF9AE}" pid="3" name="KSOProductBuildVer">
    <vt:lpwstr>2052-12.1.0.26895</vt:lpwstr>
  </property>
  <property fmtid="{D5CDD505-2E9C-101B-9397-08002B2CF9AE}" pid="4" name="ICV">
    <vt:lpwstr>79D75BCCAEE14EFAB46F1343167599D1_12</vt:lpwstr>
  </property>
</Properties>
</file>